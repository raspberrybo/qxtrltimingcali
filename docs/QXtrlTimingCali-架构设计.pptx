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开场：今天讲这套系统的整体框架设计。目标是让没接触过代码的同事也能理解——它做什么、分几层、数据怎么流、安全怎么保证。全篇零第三方依赖，纯 Python 标准库实现。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导览页。如果只记一件事：整套设计围绕'把多条信号线对齐到同一时间轴'这个唯一目标，其余都是为了这件事的正确性与可追溯性。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非技术页。比喻：多车道站台的火车必须同时到站，否则量子门操作会失真。校准就是把每条线'往右挪一点'让它们对齐。左图红条越参差=问题越严重。右边公式 q=L+d 是全篇的数据主线。下方三个数字是实测值（8 比特 31 线示例）：旧方式挪了 3.3 万纳秒，批量方式只要 2860 纳秒，因为它最后一次性求解，残差 0.254 纳秒。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技术选型很克制：纯 Python 标准库、零第三方依赖，意味着没有依赖冲突、装上就能跑。数据交换全用 JSON，好处是可 diff、可审计、跨语言。三条边界是重点——模块之间靠契约而非口头约定，尤其'延时只有一个写入者'这条，是避免系统互踩的关键。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架构核心页。四层从上到下：生成端只负责造数据（纯函数）；配置真源是 JSON 文件；校准审查端是本仓库核心，有状态、做裁决，里面有两条编排主线（stages 四组六步、pipeline 两阶段不分组）；执行端真正跑实验、可整体替换。每层之间靠契约解耦，所以换实验软件只需要换适配器，不用改校准逻辑。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模块清单，按层归位。可以让听众顺着表格看每个模块属于哪一层。重点是③校准端：stages 管四组六步的分组编排，pipeline 是另一条不分组的两阶段主线，center 管审查裁决，solver 管全局求解，graph/parallel 管选边与并行波，ledger/writeback 管台账与安全回写。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组件交互页。五种消息是系统之间唯一的对话方式：申请→结果→分析→裁决→回写。三条铁律要重点强调，尤其第一条 hash 回填——这是接入真实实验时最容易犯、后果最严重的错误（会丢掉整批数据）。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数据流页。上方六个步骤是端到端走向；下方是贯穿全程的数据主线。务必讲清三个量的区别：L 是天生的固有延时、只读；d 是校准加的右移量、只增不减、是唯一被写回的；q 是两者之和。我们评价校准好不好，看 q 的离散程度（残差），而不是看 d 有多大。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流程页，全篇重点。四组六步的顺序不是随意排的，是物理依赖决定的。要强调步3步4之间'一个字节都不写'——因为只有在同一个基线上测的数据才能合并求解，这是误差不累加的关键。橙色是写回步骤（三次落盘），绿色是只记录步骤。步 2 授予的 headroom 是流水线自己的临时余量，步 6 按额度收回。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对比页，面向所有人。核心结论是最后一行：残差不再随台阶数增长，只由测量精度决定。可以用爬楼梯比喻：旧方式每上一级台阶都要重新校准一次、误差累加；新方式是一次算好所有台阶的高度。33067 对 2860 这个对比最直观——注意测量次数也少了（最小生成树只需 N−1 条边）。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安全机制页。四道守卫是数据安全的核心，可以类比银行转账的多重验证。关键是'拒绝也留痕'——即使没写进去，也会记录被挡在哪一道、原因是什么，便于事后追溯。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产物页。四类文件各有分工：报告讲结果，审计讲动作，测量日志讲断点续跑，会话讲状态。共同点是都可回放。特别提一下断点续跑——跑一半断了，重启后能跳过已完成的继续，不用整个重来；headroom 授予台账也随事件重放，所以换进程继续跑不会错。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接入边界页。强调执行端是可整体替换的，换设备只换适配器。右边字段对照表里，skew_ns 是真正的缺口——QXtrl 目前没有现成的相对延时测量实验，这是接入时最需要新开发的部分。下方两个风险点要在项目启动时就和对方约定清楚。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路线图页。分三个阶段讲。已落地那一栏是本次更新的重点：四组六步、并行波划分与 submit_many、以及供上层调度器使用的分阶段驱动（stage_status / run_group / run_final，每次只推进一步、绝不自动往后跑）。重点是演进原则：底层四件套（契约、会话、中心、回写）保持稳定，只有编排层在演进。这样升级换代不会动到已有的数据和裁决逻辑，保护既有投入。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总结页，三句话收尾：四层解耦靠契约、一条数据主线只增不减、四组六步统一求解。数字取自 8 比特 31 线示例（31 条线 / 30 次测量 / 位移 2860.1 ns / 残差 0.254 ns）。讲完可以进入问答。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914400"/>
            <a:ext cx="1828800" cy="77724"/>
          </a:xfrm>
          <a:prstGeom prst="rect">
            <a:avLst/>
          </a:prstGeom>
          <a:solidFill>
            <a:srgbClr val="2E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72200" y="1298448"/>
            <a:ext cx="2468880" cy="77724"/>
          </a:xfrm>
          <a:prstGeom prst="rect">
            <a:avLst/>
          </a:prstGeom>
          <a:solidFill>
            <a:srgbClr val="3C7B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682496"/>
            <a:ext cx="2423160" cy="77724"/>
          </a:xfrm>
          <a:prstGeom prst="rect">
            <a:avLst/>
          </a:prstGeom>
          <a:solidFill>
            <a:srgbClr val="2E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2066544"/>
            <a:ext cx="3246120" cy="77724"/>
          </a:xfrm>
          <a:prstGeom prst="rect">
            <a:avLst/>
          </a:prstGeom>
          <a:solidFill>
            <a:srgbClr val="3C7B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2450592"/>
            <a:ext cx="2011680" cy="77724"/>
          </a:xfrm>
          <a:prstGeom prst="rect">
            <a:avLst/>
          </a:prstGeom>
          <a:solidFill>
            <a:srgbClr val="2E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834640"/>
            <a:ext cx="2423160" cy="77724"/>
          </a:xfrm>
          <a:prstGeom prst="rect">
            <a:avLst/>
          </a:prstGeom>
          <a:solidFill>
            <a:srgbClr val="3C7B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3218688"/>
            <a:ext cx="3246120" cy="77724"/>
          </a:xfrm>
          <a:prstGeom prst="rect">
            <a:avLst/>
          </a:prstGeom>
          <a:solidFill>
            <a:srgbClr val="2E8B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B7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258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13232" y="2212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超导量子比特 Timing 校准系统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2103120" cy="0"/>
          </a:xfrm>
          <a:prstGeom prst="line">
            <a:avLst/>
          </a:prstGeom>
          <a:noFill/>
          <a:ln w="31750">
            <a:solidFill>
              <a:srgbClr val="C886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926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整体框架设计说明 · 项目汇报 / 团队培训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" y="34290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Phase-2 · 批量校准 · v0.4.0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F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四组六步 · 并行波 · Python 标准库 · 零第三方依赖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F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数据主线  q = L(truth) + d(pending)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F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 · 122 项测试通过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这份说明讲什么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六个部分，从「为什么」讲到「怎么保证安全」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271016"/>
            <a:ext cx="45720" cy="1298448"/>
          </a:xfrm>
          <a:prstGeom prst="rect">
            <a:avLst/>
          </a:prstGeom>
          <a:solidFill>
            <a:srgbClr val="2C6CB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984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17190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要解决的问题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0482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为什么多条信号线的时间必须对齐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2696" y="1271016"/>
            <a:ext cx="45720" cy="1298448"/>
          </a:xfrm>
          <a:prstGeom prst="rect">
            <a:avLst/>
          </a:prstGeom>
          <a:solidFill>
            <a:srgbClr val="A9760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2984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97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429000" y="17190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技术选型与分层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29000" y="20482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四层结构，各层职责与边界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271016"/>
            <a:ext cx="45720" cy="1298448"/>
          </a:xfrm>
          <a:prstGeom prst="rect">
            <a:avLst/>
          </a:prstGeom>
          <a:solidFill>
            <a:srgbClr val="1D7A3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2984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217920" y="17190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模块清单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0" y="20482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每个模块干什么、属于哪一层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" y="2916936"/>
            <a:ext cx="45720" cy="129844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944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4008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组件交互与数据流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36941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五种消息契约，端到端数据走向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83464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82696" y="2916936"/>
            <a:ext cx="45720" cy="1298448"/>
          </a:xfrm>
          <a:prstGeom prst="rect">
            <a:avLst/>
          </a:prstGeom>
          <a:solidFill>
            <a:srgbClr val="C8862A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2944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8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342900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四组六步校准流程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29000" y="36941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核心业务流程：分组测量、统一求解、并行波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283464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71616" y="2916936"/>
            <a:ext cx="45720" cy="1298448"/>
          </a:xfrm>
          <a:prstGeom prst="rect">
            <a:avLst/>
          </a:prstGeom>
          <a:solidFill>
            <a:srgbClr val="4A5560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2944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5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21792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安全、接入与路线图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17920" y="36941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四道守卫、审计留痕、QXtrl 接入、后期能力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对非技术同事：想象一个多车道站台，火车必须同时到站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39319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106424"/>
            <a:ext cx="45720" cy="2075688"/>
          </a:xfrm>
          <a:prstGeom prst="rect">
            <a:avLst/>
          </a:prstGeom>
          <a:solidFill>
            <a:srgbClr val="2C6CB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问题：信号线到达时间不齐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14813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读取线 RO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91640" y="1554480"/>
            <a:ext cx="2468880" cy="25603"/>
          </a:xfrm>
          <a:prstGeom prst="rect">
            <a:avLst/>
          </a:prstGeom>
          <a:solidFill>
            <a:srgbClr val="D8E0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1481328"/>
            <a:ext cx="777240" cy="164592"/>
          </a:xfrm>
          <a:prstGeom prst="rect">
            <a:avLst>
              <a:gd name="adj" fmla="val 11111"/>
            </a:avLst>
          </a:prstGeom>
          <a:solidFill>
            <a:srgbClr val="2C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47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比特 XY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91640" y="1920240"/>
            <a:ext cx="2468880" cy="25603"/>
          </a:xfrm>
          <a:prstGeom prst="rect">
            <a:avLst/>
          </a:prstGeom>
          <a:solidFill>
            <a:srgbClr val="D8E0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1847088"/>
            <a:ext cx="777240" cy="164592"/>
          </a:xfrm>
          <a:prstGeom prst="rect">
            <a:avLst>
              <a:gd name="adj" fmla="val 11111"/>
            </a:avLst>
          </a:prstGeom>
          <a:solidFill>
            <a:srgbClr val="2C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比特 Z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2286000"/>
            <a:ext cx="2468880" cy="25603"/>
          </a:xfrm>
          <a:prstGeom prst="rect">
            <a:avLst/>
          </a:prstGeom>
          <a:solidFill>
            <a:srgbClr val="D8E0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212848"/>
            <a:ext cx="777240" cy="164592"/>
          </a:xfrm>
          <a:prstGeom prst="rect">
            <a:avLst>
              <a:gd name="adj" fmla="val 11111"/>
            </a:avLst>
          </a:prstGeom>
          <a:solidFill>
            <a:srgbClr val="2C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786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耦合器 Z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91640" y="2651760"/>
            <a:ext cx="2468880" cy="25603"/>
          </a:xfrm>
          <a:prstGeom prst="rect">
            <a:avLst/>
          </a:prstGeom>
          <a:solidFill>
            <a:srgbClr val="D8E0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2578608"/>
            <a:ext cx="777240" cy="164592"/>
          </a:xfrm>
          <a:prstGeom prst="rect">
            <a:avLst>
              <a:gd name="adj" fmla="val 11111"/>
            </a:avLst>
          </a:prstGeom>
          <a:solidFill>
            <a:srgbClr val="2C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到达时刻参差不齐 → 门操作失真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024128"/>
            <a:ext cx="41148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1106424"/>
            <a:ext cx="45720" cy="2075688"/>
          </a:xfrm>
          <a:prstGeom prst="rect">
            <a:avLst/>
          </a:prstGeom>
          <a:solidFill>
            <a:srgbClr val="C8862A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校准目标：对齐到同一时间轴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1481328"/>
            <a:ext cx="3749040" cy="502920"/>
          </a:xfrm>
          <a:prstGeom prst="roundRect">
            <a:avLst>
              <a:gd name="adj" fmla="val 7273"/>
            </a:avLst>
          </a:prstGeom>
          <a:solidFill>
            <a:srgbClr val="EFF5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4813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L + d</a:t>
            </a:r>
            <a:pPr algn="ct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实际 = 固有延时 + 可调右移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00600" y="212140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L（固有延时）：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线缆/器件自带，只读不改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d（可调右移）：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校准只把线往右挪，只增不减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评价标准：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看「残差」够不够小，不看 d 大小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419856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" y="3502152"/>
            <a:ext cx="45720" cy="886968"/>
          </a:xfrm>
          <a:prstGeom prst="rect">
            <a:avLst/>
          </a:prstGeom>
          <a:solidFill>
            <a:srgbClr val="2E8B7A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" y="3493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为什么值得做：误差不再沿链路累加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1520" y="3813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8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33067.5 ns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304288" y="3794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旧流程累计位移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测一对写一对 · 31 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64992" y="3840480"/>
            <a:ext cx="0" cy="36576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3813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8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2860.1 ns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047488" y="3794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批量统一位移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1/11.6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08192" y="3840480"/>
            <a:ext cx="0" cy="36576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813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8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0.254 ns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790688" y="3794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最终残差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比特 31 线 · 已对齐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技术选型与工程原则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零第三方依赖，数据交换全走 JSON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39776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106424"/>
            <a:ext cx="45720" cy="1664208"/>
          </a:xfrm>
          <a:prstGeom prst="rect">
            <a:avLst/>
          </a:prstGeom>
          <a:solidFill>
            <a:srgbClr val="A9760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097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7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148132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语言：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标准库，零第三方依赖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数据交换：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JSON（可 diff、可审计、跨语言）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可视化：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自包含 HTML / SVG，离线可开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文档产物：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 / 动画 / 本 PPT 均由脚本生成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39776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45736" y="1106424"/>
            <a:ext cx="45720" cy="1664208"/>
          </a:xfrm>
          <a:prstGeom prst="rect">
            <a:avLst/>
          </a:prstGeom>
          <a:solidFill>
            <a:srgbClr val="1D7A3C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097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7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工程原则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148132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生成端纯函数：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同输入必同输出，无副作用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校准端有状态：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阈值、策略、会话归它持有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执行端可替换：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换实验软件只换适配器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先查后写：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计划是纯函数，检查通过才落盘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3099816"/>
            <a:ext cx="45720" cy="120700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08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三道边界：模块之间靠「契约」而不是靠约定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345643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JSON 契约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生成端 → 校准端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chip.json / wiring 文件即接口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3493008"/>
            <a:ext cx="0" cy="68580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45643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消息契约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校准端 ⇄ 执行端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五种消息，全走 JSON 往返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3493008"/>
            <a:ext cx="0" cy="68580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345643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单一写入者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延时字段归属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只有审查中心能写延时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架构分层：四层结构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自上而下：生成 → 存储 → 校准 → 执行，每层职责单一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69848"/>
            <a:ext cx="8229600" cy="658368"/>
          </a:xfrm>
          <a:prstGeom prst="roundRect">
            <a:avLst>
              <a:gd name="adj" fmla="val 5556"/>
            </a:avLst>
          </a:prstGeom>
          <a:solidFill>
            <a:srgbClr val="2C6CB0"/>
          </a:solidFill>
          <a:ln w="12700">
            <a:solidFill>
              <a:srgbClr val="2C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698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生成端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纯函数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122529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2C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8376" y="122529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C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chip_gen 芯片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416552" y="122529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2C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22529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C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wiring_gen 延时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861304" y="122529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2C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22529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C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 校验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306056" y="122529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2C6C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2632" y="122529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C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visualize 排错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297680" y="1732788"/>
            <a:ext cx="548640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847088"/>
            <a:ext cx="8229600" cy="658368"/>
          </a:xfrm>
          <a:prstGeom prst="roundRect">
            <a:avLst>
              <a:gd name="adj" fmla="val 5556"/>
            </a:avLst>
          </a:prstGeom>
          <a:solidFill>
            <a:srgbClr val="A9760A"/>
          </a:solidFill>
          <a:ln w="12700">
            <a:solidFill>
              <a:srgbClr val="A97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18470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配置真源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文件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71800" y="200253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A97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08376" y="200253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97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chip.json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416552" y="200253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A976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200253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97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wiring-pending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861304" y="200253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A97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00253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97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wiring-truth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306056" y="200253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A97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42632" y="200253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97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runs/ 队列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297680" y="2510028"/>
            <a:ext cx="548640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24328"/>
            <a:ext cx="8229600" cy="658368"/>
          </a:xfrm>
          <a:prstGeom prst="roundRect">
            <a:avLst>
              <a:gd name="adj" fmla="val 5556"/>
            </a:avLst>
          </a:prstGeom>
          <a:solidFill>
            <a:srgbClr val="1D7A3C"/>
          </a:solidFill>
          <a:ln w="12700">
            <a:solidFill>
              <a:srgbClr val="1D7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6243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校准端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本仓库核心 · 有状态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971800" y="277977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1D7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08376" y="277977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7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stages / pipeline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416552" y="277977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1D7A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53128" y="277977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7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center 审查中心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861304" y="277977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1D7A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77977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7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solver 求解器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7306056" y="277977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1D7A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2632" y="277977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7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writeback 守卫回写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297680" y="3287268"/>
            <a:ext cx="548640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401568"/>
            <a:ext cx="8229600" cy="658368"/>
          </a:xfrm>
          <a:prstGeom prst="roundRect">
            <a:avLst>
              <a:gd name="adj" fmla="val 5556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4015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执行端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可整体替换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971800" y="355701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6B3F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08376" y="355701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queue_io 适配器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416552" y="355701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6B3F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53128" y="355701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 设备替身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861304" y="355701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6B3F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97880" y="355701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FileQueue 队列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7306056" y="3557016"/>
            <a:ext cx="1325880" cy="347472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3970">
            <a:solidFill>
              <a:srgbClr val="6B3F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42632" y="355701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QXtrl（规划）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457200" y="4178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①② 之间是 JSON 契约 · ③④ 之间是五种消息契约 —— 换执行端不改校准逻辑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主要模块清单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按层归位：每个模块属于哪一层、负责什么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691640"/>
                <a:gridCol w="3108960"/>
                <a:gridCol w="2377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关键特性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生成端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chip_gen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生成芯片构型（链/环/梯/网格）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纯函数，无副作用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生成端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wiring_gen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生成真值 L 与待测 d 延时文件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truth 随机 / pending 全 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生成端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validate / visualize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结构校验、自包含 HTML 排错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三文件交叉核对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真源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chip.json / wiring-*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配置与延时的唯一真源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JSON，可 diff 审计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校准端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stages.py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四组六步分组编排（核心流程）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三次落盘 · headroom 闭环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校准端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pipeline.py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两阶段批量校准：只测量 → 全局求解 → 整批写回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N−1 次测量，一次写盘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校准端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review/center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申请→取结果→审查→回写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持有阈值与策略链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校准端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review/solver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加权最小二乘全局求解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1/σ² 分摊误差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校准端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review/graph · parallel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最小生成树选边 · 按共享线名切「波」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测量次数最少 · 可并行提交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校准端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review/ledger · writeback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测量台账（只记录不写回）+ 四道守卫原子回写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断点续跑 · 拒绝也留痕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执行端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queue_io / sim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适配器与设备替身（含 submit_many 批量提交）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可整体替换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5445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按层归位 · ③ 校准端为本仓库核心（stages 四组六步 / pipeline 两阶段，两条编排主线共用同一套契约、守卫与求解器）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组件之间怎么对话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唯一跨边界接口是五种消息，全部 JSON 往返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52728"/>
            <a:ext cx="1517904" cy="1600200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335024"/>
            <a:ext cx="45720" cy="143560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6245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申请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1655064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ExperimentRequest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139696"/>
            <a:ext cx="1152144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1854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我要测哪条边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带申请时的 config_hash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88820" y="1984248"/>
            <a:ext cx="146304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1252728"/>
            <a:ext cx="1517904" cy="1600200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85416" y="1335024"/>
            <a:ext cx="45720" cy="143560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7" name="Text 15"/>
          <p:cNvSpPr/>
          <p:nvPr/>
        </p:nvSpPr>
        <p:spPr>
          <a:xfrm>
            <a:off x="2240280" y="136245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结果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03704" y="1655064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ExperimentResult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31720" y="2139696"/>
            <a:ext cx="1152144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21992" y="21854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skew / sigma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原样回填 config_hash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80460" y="1984248"/>
            <a:ext cx="146304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1252728"/>
            <a:ext cx="1517904" cy="1600200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77056" y="1335024"/>
            <a:ext cx="45720" cy="1435608"/>
          </a:xfrm>
          <a:prstGeom prst="rect">
            <a:avLst/>
          </a:prstGeom>
          <a:solidFill>
            <a:srgbClr val="1D7A3C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136245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分析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95344" y="1655064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Assessment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023360" y="2139696"/>
            <a:ext cx="1152144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13632" y="21854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出事实与质量判据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不下最终裁决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72100" y="1984248"/>
            <a:ext cx="146304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1252728"/>
            <a:ext cx="1517904" cy="1600200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68696" y="1335024"/>
            <a:ext cx="45720" cy="1435608"/>
          </a:xfrm>
          <a:prstGeom prst="rect">
            <a:avLst/>
          </a:prstGeom>
          <a:solidFill>
            <a:srgbClr val="1D7A3C"/>
          </a:solidFill>
          <a:ln/>
        </p:spPr>
      </p:sp>
      <p:sp>
        <p:nvSpPr>
          <p:cNvPr id="31" name="Text 29"/>
          <p:cNvSpPr/>
          <p:nvPr/>
        </p:nvSpPr>
        <p:spPr>
          <a:xfrm>
            <a:off x="5623560" y="136245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裁决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86984" y="1655064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15000" y="2139696"/>
            <a:ext cx="1152144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05272" y="21854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 / noop / retry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recheck / replan / escalate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63740" y="1984248"/>
            <a:ext cx="146304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1252728"/>
            <a:ext cx="1517904" cy="1600200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60336" y="1335024"/>
            <a:ext cx="45720" cy="1435608"/>
          </a:xfrm>
          <a:prstGeom prst="rect">
            <a:avLst/>
          </a:prstGeom>
          <a:solidFill>
            <a:srgbClr val="C8862A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0" y="136245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回写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78624" y="1655064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WritePlan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406640" y="2139696"/>
            <a:ext cx="1152144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96912" y="21854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批准后写哪条线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经四道守卫落盘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3081528"/>
            <a:ext cx="82296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3776" y="3163824"/>
            <a:ext cx="45720" cy="11155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" y="3172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对话规则（三条铁律）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0080" y="353872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hash 必须原样回填：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 里的 config_hash 要在 Result 里原样带回，否则整批观测作废、流程中止（常见接入坑①）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分析与裁决分离：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analyze 只出事实，decide 才下判断——所以换阈值不用改测量代码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换执行端不改裁决：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审查端与执行端之间只有这五种消息，换 QXtrl 只换适配器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数据怎么流动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端到端：从造数据到写回留痕，一条主线贯穿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207008" cy="1051560"/>
          </a:xfrm>
          <a:prstGeom prst="roundRect">
            <a:avLst>
              <a:gd name="adj" fmla="val 3478"/>
            </a:avLst>
          </a:prstGeom>
          <a:solidFill>
            <a:srgbClr val="2C6CB0"/>
          </a:solidFill>
          <a:ln w="12700">
            <a:solidFill>
              <a:srgbClr val="2C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chip_gen / wiring_gen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造出芯片与延时文件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82496" y="1755648"/>
            <a:ext cx="137160" cy="137160"/>
          </a:xfrm>
          <a:prstGeom prst="rightArrow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37944" y="1298448"/>
            <a:ext cx="1207008" cy="1051560"/>
          </a:xfrm>
          <a:prstGeom prst="roundRect">
            <a:avLst>
              <a:gd name="adj" fmla="val 3478"/>
            </a:avLst>
          </a:prstGeom>
          <a:solidFill>
            <a:srgbClr val="2C6CB0"/>
          </a:solidFill>
          <a:ln w="12700">
            <a:solidFill>
              <a:srgbClr val="2C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13898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83664" y="1682496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 三文件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交叉核对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63240" y="1755648"/>
            <a:ext cx="137160" cy="137160"/>
          </a:xfrm>
          <a:prstGeom prst="rightArrow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1298448"/>
            <a:ext cx="1207008" cy="1051560"/>
          </a:xfrm>
          <a:prstGeom prst="roundRect">
            <a:avLst>
              <a:gd name="adj" fmla="val 3478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3898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64408" y="1682496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执行端按「波」跑实验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 skew / sigma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43984" y="1755648"/>
            <a:ext cx="137160" cy="137160"/>
          </a:xfrm>
          <a:prstGeom prst="rightArrow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9432" y="1298448"/>
            <a:ext cx="1207008" cy="1051560"/>
          </a:xfrm>
          <a:prstGeom prst="roundRect">
            <a:avLst>
              <a:gd name="adj" fmla="val 3478"/>
            </a:avLst>
          </a:prstGeom>
          <a:solidFill>
            <a:srgbClr val="1D7A3C"/>
          </a:solidFill>
          <a:ln w="12700">
            <a:solidFill>
              <a:srgbClr val="1D7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13898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45152" y="1682496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策略链检查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好坏与超限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824728" y="1755648"/>
            <a:ext cx="137160" cy="137160"/>
          </a:xfrm>
          <a:prstGeom prst="rightArrow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1298448"/>
            <a:ext cx="1207008" cy="1051560"/>
          </a:xfrm>
          <a:prstGeom prst="roundRect">
            <a:avLst>
              <a:gd name="adj" fmla="val 3478"/>
            </a:avLst>
          </a:prstGeom>
          <a:solidFill>
            <a:srgbClr val="1D7A3C"/>
          </a:solidFill>
          <a:ln w="12700">
            <a:solidFill>
              <a:srgbClr val="1D7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13898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25896" y="1682496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加权最小二乘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一次算出全部位移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05472" y="1755648"/>
            <a:ext cx="137160" cy="137160"/>
          </a:xfrm>
          <a:prstGeom prst="rightArrow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298448"/>
            <a:ext cx="1207008" cy="1051560"/>
          </a:xfrm>
          <a:prstGeom prst="roundRect">
            <a:avLst>
              <a:gd name="adj" fmla="val 3478"/>
            </a:avLst>
          </a:prstGeom>
          <a:solidFill>
            <a:srgbClr val="C8862A"/>
          </a:solidFill>
          <a:ln w="12700">
            <a:solidFill>
              <a:srgbClr val="C886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13898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写回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0" y="1682496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四道守卫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组1 / 步5 / 步6 三次落盘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2560320"/>
            <a:ext cx="82296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3776" y="2642616"/>
            <a:ext cx="45720" cy="1664208"/>
          </a:xfrm>
          <a:prstGeom prst="rect">
            <a:avLst/>
          </a:prstGeom>
          <a:solidFill>
            <a:srgbClr val="A9760A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" y="2651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7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贯穿全程的唯一数据主线：q = L + 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3017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L（固有延时）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10312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wiring-truth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0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只读：只用来装载设备、事后对账，校准流程不读它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3401568"/>
            <a:ext cx="786384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4381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8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d（可调右移）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103120" y="34381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wiring-pending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0" y="34381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可写：校准累加的位移，只增不减，是唯一被写回的字段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" y="3822192"/>
            <a:ext cx="786384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8587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q（实际位置）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10312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L + 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0" y="3858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计算值：残差 = max(q) − min(q)，越小说明越对齐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核心流程：四组六步校准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四组六步 · 三次落盘——误差不再沿链路累加的根因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61288"/>
            <a:ext cx="1280160" cy="1737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C8862A"/>
            </a:solidFill>
            <a:prstDash val="solid"/>
          </a:ln>
          <a:effectLst>
            <a:outerShdw sx="100000" sy="100000" kx="0" ky="0" algn="bl" rotWithShape="0" blurRad="63500" dist="12700" dir="5400000">
              <a:srgbClr val="9AAA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61288"/>
            <a:ext cx="1280160" cy="310896"/>
          </a:xfrm>
          <a:prstGeom prst="rect">
            <a:avLst/>
          </a:prstGeom>
          <a:solidFill>
            <a:srgbClr val="C88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9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 1 · 组1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" y="154533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读取线对齐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202082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 ↔ ri 对准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5216" y="2514600"/>
            <a:ext cx="1024128" cy="292608"/>
          </a:xfrm>
          <a:prstGeom prst="roundRect">
            <a:avLst>
              <a:gd name="adj" fmla="val 9375"/>
            </a:avLst>
          </a:prstGeom>
          <a:solidFill>
            <a:srgbClr val="FBF0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5146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立刻写回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46504" y="1938528"/>
            <a:ext cx="100584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56232" y="1161288"/>
            <a:ext cx="1280160" cy="1737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C8862A"/>
            </a:solidFill>
            <a:prstDash val="solid"/>
          </a:ln>
          <a:effectLst>
            <a:outerShdw sx="100000" sy="100000" kx="0" ky="0" algn="bl" rotWithShape="0" blurRad="63500" dist="12700" dir="5400000">
              <a:srgbClr val="9AAA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56232" y="1161288"/>
            <a:ext cx="1280160" cy="310896"/>
          </a:xfrm>
          <a:prstGeom prst="rect">
            <a:avLst/>
          </a:prstGeom>
          <a:solidFill>
            <a:srgbClr val="C88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56232" y="1179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 2 · 组1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11096" y="154533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授予 headroom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11096" y="202082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读取线整体右移留余量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84248" y="2514600"/>
            <a:ext cx="1024128" cy="292608"/>
          </a:xfrm>
          <a:prstGeom prst="roundRect">
            <a:avLst>
              <a:gd name="adj" fmla="val 9375"/>
            </a:avLst>
          </a:prstGeom>
          <a:solidFill>
            <a:srgbClr val="FBF0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4248" y="25146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立刻写回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45536" y="1938528"/>
            <a:ext cx="100584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55264" y="1161288"/>
            <a:ext cx="1280160" cy="1737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1D7A3C"/>
            </a:solidFill>
            <a:prstDash val="solid"/>
          </a:ln>
          <a:effectLst>
            <a:outerShdw sx="100000" sy="100000" kx="0" ky="0" algn="bl" rotWithShape="0" blurRad="63500" dist="12700" dir="5400000">
              <a:srgbClr val="9AAA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55264" y="1161288"/>
            <a:ext cx="1280160" cy="310896"/>
          </a:xfrm>
          <a:prstGeom prst="rect">
            <a:avLst/>
          </a:prstGeom>
          <a:solidFill>
            <a:srgbClr val="1D7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55264" y="1179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 3 · 组2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10128" y="154533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单比特校准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202082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xy ↔ z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83280" y="2514600"/>
            <a:ext cx="1024128" cy="292608"/>
          </a:xfrm>
          <a:prstGeom prst="roundRect">
            <a:avLst>
              <a:gd name="adj" fmla="val 9375"/>
            </a:avLst>
          </a:prstGeom>
          <a:solidFill>
            <a:srgbClr val="E9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5146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7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只记录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44568" y="1938528"/>
            <a:ext cx="100584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54296" y="1161288"/>
            <a:ext cx="1280160" cy="1737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1D7A3C"/>
            </a:solidFill>
            <a:prstDash val="solid"/>
          </a:ln>
          <a:effectLst>
            <a:outerShdw sx="100000" sy="100000" kx="0" ky="0" algn="bl" rotWithShape="0" blurRad="63500" dist="12700" dir="5400000">
              <a:srgbClr val="9AAAB8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54296" y="1161288"/>
            <a:ext cx="1280160" cy="310896"/>
          </a:xfrm>
          <a:prstGeom prst="rect">
            <a:avLst/>
          </a:prstGeom>
          <a:solidFill>
            <a:srgbClr val="1D7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1179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 4 · 组3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09160" y="154533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跨比特 / 耦合器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202082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Qa.z↔Qb.z · CP.z↔Q.z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82312" y="2514600"/>
            <a:ext cx="1024128" cy="292608"/>
          </a:xfrm>
          <a:prstGeom prst="roundRect">
            <a:avLst>
              <a:gd name="adj" fmla="val 9375"/>
            </a:avLst>
          </a:prstGeom>
          <a:solidFill>
            <a:srgbClr val="E9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25146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7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只记录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0" y="1938528"/>
            <a:ext cx="100584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53328" y="1161288"/>
            <a:ext cx="1280160" cy="1737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C8862A"/>
            </a:solidFill>
            <a:prstDash val="solid"/>
          </a:ln>
          <a:effectLst>
            <a:outerShdw sx="100000" sy="100000" kx="0" ky="0" algn="bl" rotWithShape="0" blurRad="63500" dist="12700" dir="5400000">
              <a:srgbClr val="9AAAB8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53328" y="1161288"/>
            <a:ext cx="1280160" cy="310896"/>
          </a:xfrm>
          <a:prstGeom prst="rect">
            <a:avLst/>
          </a:prstGeom>
          <a:solidFill>
            <a:srgbClr val="C88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1179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 5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108192" y="154533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统一求解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08192" y="202082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 2+3 观测合并求解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81344" y="2514600"/>
            <a:ext cx="1024128" cy="292608"/>
          </a:xfrm>
          <a:prstGeom prst="roundRect">
            <a:avLst>
              <a:gd name="adj" fmla="val 9375"/>
            </a:avLst>
          </a:prstGeom>
          <a:solidFill>
            <a:srgbClr val="FBF0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1344" y="25146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整批写回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342632" y="1938528"/>
            <a:ext cx="100584" cy="137160"/>
          </a:xfrm>
          <a:prstGeom prst="rightArrow">
            <a:avLst/>
          </a:prstGeom>
          <a:solidFill>
            <a:srgbClr val="6B7B8C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52360" y="1161288"/>
            <a:ext cx="1280160" cy="1737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C8862A"/>
            </a:solidFill>
            <a:prstDash val="solid"/>
          </a:ln>
          <a:effectLst>
            <a:outerShdw sx="100000" sy="100000" kx="0" ky="0" algn="bl" rotWithShape="0" blurRad="63500" dist="12700" dir="5400000">
              <a:srgbClr val="9AAAB8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452360" y="1161288"/>
            <a:ext cx="1280160" cy="310896"/>
          </a:xfrm>
          <a:prstGeom prst="rect">
            <a:avLst/>
          </a:prstGeom>
          <a:solidFill>
            <a:srgbClr val="C88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52360" y="1179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 6 · 组4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507224" y="154533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读取线最终对齐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507224" y="202082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收回 headroom · 挂 qubit.xy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580376" y="2514600"/>
            <a:ext cx="1024128" cy="292608"/>
          </a:xfrm>
          <a:prstGeom prst="roundRect">
            <a:avLst>
              <a:gd name="adj" fmla="val 9375"/>
            </a:avLst>
          </a:prstGeom>
          <a:solidFill>
            <a:srgbClr val="FBF0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0376" y="25146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立刻写回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" y="3035808"/>
            <a:ext cx="8229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93776" y="3118104"/>
            <a:ext cx="45720" cy="116128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7" name="Text 55"/>
          <p:cNvSpPr/>
          <p:nvPr/>
        </p:nvSpPr>
        <p:spPr>
          <a:xfrm>
            <a:off x="621792" y="3127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为什么这样排顺序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40080" y="349300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读取线必须先对齐：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否则读出的信号本身就带着时间偏差，后面的测量全不准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步 3、步 4 之间一个字节都不写：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 skew 描述同一时刻，步 5 才能合并成一次求解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全程只落盘三次：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 1 就地写 → 步 5 整批写 → 步 6 收回 headroom 后写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同组可切「波」并行提交：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按共享线名切波，只影响观测到达顺序，不改变「一次求解 + 一次落盘」的语义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为什么不能「测一对写一对」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同样是校准，两种做法的差距是数量级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旧流程：逐对测量逐对写回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B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本方案：分组测量统一求解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7A3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测量次数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 次（逐对，8 比特 31 线）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次（最小生成树 N−1）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测量时机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测一对立刻写回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分组测量，数据先攒着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误差累积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每步误差沿链路累加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误差按 1/σ² 摊到全图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总位移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33067.5 ns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2860.1 ns（约 1/11.6）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求解次数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每对一次（≈N 次）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次（组1 + 步5 + 步6）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写盘次数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N−1 次（每次都有风险）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次（组1 / 步5 整批 / 步6）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残差量级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随台阶数不断增长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3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只由测量精度 σ 决定（实测 0.254 ns）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767328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" y="3849624"/>
            <a:ext cx="45720" cy="521208"/>
          </a:xfrm>
          <a:prstGeom prst="rect">
            <a:avLst/>
          </a:prstGeom>
          <a:solidFill>
            <a:srgbClr val="C8862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76732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buNone/>
            </a:pPr>
            <a:r>
              <a:rPr lang="en-US" sz="10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把「多次小误差累加」换成「一次全局摊分」——测量 30 次、位移 2860.1 ns（旧流程的 1/11.6）、残差 0.254 ns，结果反而更稳。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安全机制：四道守卫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任一道不过，文件原样不动，但一定留痕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61288"/>
            <a:ext cx="1920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243584"/>
            <a:ext cx="45720" cy="1664208"/>
          </a:xfrm>
          <a:prstGeom prst="rect">
            <a:avLst/>
          </a:prstGeom>
          <a:solidFill>
            <a:srgbClr val="2C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298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CAS 指纹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618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CAS＝比较并交换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911096"/>
            <a:ext cx="15544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8424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申请时记下的指纹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必须等于当前指纹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（变了则整批观测作废）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51176" y="1161288"/>
            <a:ext cx="1920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87752" y="1243584"/>
            <a:ext cx="45720" cy="1664208"/>
          </a:xfrm>
          <a:prstGeom prst="rect">
            <a:avLst/>
          </a:prstGeom>
          <a:solidFill>
            <a:srgbClr val="1D7A3C"/>
          </a:solidFill>
          <a:ln/>
        </p:spPr>
      </p:sp>
      <p:sp>
        <p:nvSpPr>
          <p:cNvPr id="16" name="Text 14"/>
          <p:cNvSpPr/>
          <p:nvPr/>
        </p:nvSpPr>
        <p:spPr>
          <a:xfrm>
            <a:off x="2642616" y="1298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只准右移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42616" y="1618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单调约束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34056" y="1911096"/>
            <a:ext cx="15544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42616" y="198424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≥ 0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延时只能往右加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（headroom 收回除外）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45152" y="1161288"/>
            <a:ext cx="1920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1243584"/>
            <a:ext cx="45720" cy="1664208"/>
          </a:xfrm>
          <a:prstGeom prst="rect">
            <a:avLst/>
          </a:prstGeom>
          <a:solidFill>
            <a:srgbClr val="A9760A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1298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7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预算上限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36592" y="1618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总量控制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28032" y="1911096"/>
            <a:ext cx="15544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98424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≤ d_max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总位移不超预算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（任一线超限→整批不写）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39128" y="1161288"/>
            <a:ext cx="1920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75704" y="1243584"/>
            <a:ext cx="45720" cy="1664208"/>
          </a:xfrm>
          <a:prstGeom prst="rect">
            <a:avLst/>
          </a:prstGeom>
          <a:solidFill>
            <a:srgbClr val="C8862A"/>
          </a:solidFill>
          <a:ln/>
        </p:spPr>
      </p:sp>
      <p:sp>
        <p:nvSpPr>
          <p:cNvPr id="28" name="Text 26"/>
          <p:cNvSpPr/>
          <p:nvPr/>
        </p:nvSpPr>
        <p:spPr>
          <a:xfrm>
            <a:off x="6830568" y="1298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原子写入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0568" y="1618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落盘安全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22008" y="1911096"/>
            <a:ext cx="15544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0568" y="198424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os.replace + .bak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JSONL 审计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（中断不留半成品）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127248"/>
            <a:ext cx="8229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" y="3209544"/>
            <a:ext cx="45720" cy="10698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3218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两条兜底设计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先查后写：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计划是纯函数，先算出来给策略链检查，通过才落盘——所以失败分支不会留下半成品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拒绝也留痕：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四道守卫任一道拒绝，文件一个字节不改，但审计里记下「谁、为什么、被挡在哪一道」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产物与审计留痕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每一次操作都可回放、可追溯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61288"/>
            <a:ext cx="1920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243584"/>
            <a:ext cx="45720" cy="1664208"/>
          </a:xfrm>
          <a:prstGeom prst="rect">
            <a:avLst/>
          </a:prstGeom>
          <a:solidFill>
            <a:srgbClr val="1D7A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298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D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pipeline-report.json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校准报告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075688"/>
            <a:ext cx="15544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测量集 / 波划分 / 孤立节点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求解诊断 · 残差与真值对账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51176" y="1161288"/>
            <a:ext cx="1920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87752" y="1243584"/>
            <a:ext cx="45720" cy="1664208"/>
          </a:xfrm>
          <a:prstGeom prst="rect">
            <a:avLst/>
          </a:prstGeom>
          <a:solidFill>
            <a:srgbClr val="C8862A"/>
          </a:solidFill>
          <a:ln/>
        </p:spPr>
      </p:sp>
      <p:sp>
        <p:nvSpPr>
          <p:cNvPr id="16" name="Text 14"/>
          <p:cNvSpPr/>
          <p:nvPr/>
        </p:nvSpPr>
        <p:spPr>
          <a:xfrm>
            <a:off x="2642616" y="1298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88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writeback-audit.jsonl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42616" y="1783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写盘审计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34056" y="2075688"/>
            <a:ext cx="15544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42616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新旧指纹 · 逐线明细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拒绝也留痕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45152" y="1161288"/>
            <a:ext cx="1920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1243584"/>
            <a:ext cx="45720" cy="166420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1298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measurements-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audit.jsonl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36592" y="1783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测量日志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28032" y="2075688"/>
            <a:ext cx="15544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逐边追加 · 含 config_hash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断点续跑依据（pending 伴生）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39128" y="1161288"/>
            <a:ext cx="1920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75704" y="1243584"/>
            <a:ext cx="45720" cy="1664208"/>
          </a:xfrm>
          <a:prstGeom prst="rect">
            <a:avLst/>
          </a:prstGeom>
          <a:solidFill>
            <a:srgbClr val="A9760A"/>
          </a:solidFill>
          <a:ln/>
        </p:spPr>
      </p:sp>
      <p:sp>
        <p:nvSpPr>
          <p:cNvPr id="28" name="Text 26"/>
          <p:cNvSpPr/>
          <p:nvPr/>
        </p:nvSpPr>
        <p:spPr>
          <a:xfrm>
            <a:off x="6830568" y="1298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A97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session.json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30568" y="1783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会话快照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22008" y="2075688"/>
            <a:ext cx="15544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0568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逐线 d + 指纹快照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编排器与会话共读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127248"/>
            <a:ext cx="8229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" y="3209544"/>
            <a:ext cx="45720" cy="1069848"/>
          </a:xfrm>
          <a:prstGeom prst="rect">
            <a:avLst/>
          </a:prstGeom>
          <a:solidFill>
            <a:srgbClr val="4A5560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3218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可回放：四类问题都能答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3566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出问题时：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这条线是哪一次测的、写盘前后的值是什么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要复现时：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断点续跑——按边跳过已完成的，只补测剩余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要审计时：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谁在何时做了什么决定，拒绝也留痕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要对外讲时：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 / 动画 / 本 PPT 均由脚本生成，代码一改重跑即同步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怎么接真实实验设备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执行端可整体替换：换适配器，不改校准逻辑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39319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106424"/>
            <a:ext cx="45720" cy="207568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接入方式（三选一）+ 教程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1481328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同进程：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DirectExecutor，最省事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跨进程：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FileQueue 文件队列解耦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接 QXtrl：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实现它的 submit / poll / apply（+ submit_many 批量提交）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完整教程：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 docs/executor-integration.md（入口函数 / 结果契约 / 设备同步 / 常见坑）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8529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线名映射（Q0.xy ↔ 板卡通道）归执行侧，不进 pending 文件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024128"/>
            <a:ext cx="41148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1106424"/>
            <a:ext cx="45720" cy="207568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 侧字段对照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09160" y="1527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config_hash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26480" y="1527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RecipeResult.config_hash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43800" y="15270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语义一致，可直接沿用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1911096"/>
            <a:ext cx="38404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9293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/ flags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26480" y="19293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QualityResult + 拟合 r²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43800" y="19293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阈值口径待标定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09160" y="2313432"/>
            <a:ext cx="38404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sigma_ns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RecipeCell.shots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543800" y="2331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repeats 估标准误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2715768"/>
            <a:ext cx="38404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7340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skew_ns（主判据）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26480" y="27340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（QXtrl 侧暂无）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4380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真正缺口，需新增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419856"/>
            <a:ext cx="8229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3776" y="3502152"/>
            <a:ext cx="45720" cy="795528"/>
          </a:xfrm>
          <a:prstGeom prst="rect">
            <a:avLst/>
          </a:prstGeom>
          <a:solidFill>
            <a:srgbClr val="C8862A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" y="3493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6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三个必须提前约定的风险点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3813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延时写入归属：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 也会写延时文件——必须明确只有审查中心能写，否则两处互踩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设备独占：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hardware_hold 一次只许一个实验占用设备，编排的「波」实际可能降级为排队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poll 要轮询到齐：</a:t>
            </a:r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一波结果必须循环 poll 到齐或超时，只调一次会漏结果；σ 相关性由执行侧用 flags 否决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后期能力与路线图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契约、会话、中心、回写四件套不动，只演进编排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65176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289304"/>
            <a:ext cx="45720" cy="2350008"/>
          </a:xfrm>
          <a:prstGeom prst="rect">
            <a:avLst/>
          </a:prstGeom>
          <a:solidFill>
            <a:srgbClr val="1D7A3C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344168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1D7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44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已落地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6824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Phase-2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075688"/>
            <a:ext cx="237744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6712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四组六步分组校准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分组测量、统一求解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并行波划分 + submit_many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分阶段驱动：一次只推一步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四道守卫 + 审计 + 断点续跑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207008"/>
            <a:ext cx="265176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82696" y="1289304"/>
            <a:ext cx="45720" cy="235000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3280" y="1344168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344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近期启动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16824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执行端接入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2075688"/>
            <a:ext cx="237744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16712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QXtrl 适配 submit / poll / apply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σ 与 quality 阈值口径标定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相对延时测量实验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hardware_hold 独占锁对接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1207008"/>
            <a:ext cx="265176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289304"/>
            <a:ext cx="45720" cy="2350008"/>
          </a:xfrm>
          <a:prstGeom prst="rect">
            <a:avLst/>
          </a:prstGeom>
          <a:solidFill>
            <a:srgbClr val="6B7B8C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2200" y="1344168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6B7B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344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16824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智能编排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2075688"/>
            <a:ext cx="237744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16712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按 σ 自适应加权选边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坏边隔离区自动续跑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多轮收敛与收敛判据</a:t>
            </a:r>
            <a:endParaRPr lang="en-US" sz="950" dirty="0"/>
          </a:p>
          <a:p>
            <a:pPr algn="l"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子图并行测量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858768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" y="3941064"/>
            <a:ext cx="45720" cy="3840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8587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演进原则：</a:t>
            </a:r>
            <a:pPr indent="0" marL="0">
              <a:buNone/>
            </a:pPr>
            <a:r>
              <a:rPr lang="en-US" sz="1050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 / 会话 / 中心 / 回写四件套保持稳定，编排层自由演进——所以升级不影响已有数据与裁决逻辑。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总结：三句话记住这套设计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06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架构分层 · 数据主线 · 安全边界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QXtrlTimingCali · 超导量子比特 Timing 校准系统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61288"/>
            <a:ext cx="82296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243584"/>
            <a:ext cx="45720" cy="676656"/>
          </a:xfrm>
          <a:prstGeom prst="rect">
            <a:avLst/>
          </a:prstGeom>
          <a:solidFill>
            <a:srgbClr val="2C6CB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5880" y="125272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四层解耦，靠契约对话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5819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→ 真源 → 校准 → 执行，层间靠契约（JSON 文件 + 五种消息）解耦；换设备只换适配器。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82296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" y="2203704"/>
            <a:ext cx="45720" cy="676656"/>
          </a:xfrm>
          <a:prstGeom prst="rect">
            <a:avLst/>
          </a:prstGeom>
          <a:solidFill>
            <a:srgbClr val="A9760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7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25880" y="221284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一条数据主线，只增不减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5420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= L + d：L 只读不改，d 只往右加；评价看残差，不看位移大小。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081528"/>
            <a:ext cx="82296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" y="3163824"/>
            <a:ext cx="45720" cy="676656"/>
          </a:xfrm>
          <a:prstGeom prst="rect">
            <a:avLst/>
          </a:prstGeom>
          <a:solidFill>
            <a:srgbClr val="1D7A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325880" y="317296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四组六步，统一求解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5021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 2、3 不写盘保持同基线，末尾统一求解——位移 2860.1 ns（旧流程 1/11.6），残差 0.254 ns。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087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QXtrlTimingCali 架构设计说明</dc:title>
  <dc:subject>PptxGenJS Presentation</dc:subject>
  <dc:creator>QXtrlTimingCali</dc:creator>
  <cp:lastModifiedBy>QXtrlTimingCali</cp:lastModifiedBy>
  <cp:revision>1</cp:revision>
  <dcterms:created xsi:type="dcterms:W3CDTF">2026-09-23T14:43:59Z</dcterms:created>
  <dcterms:modified xsi:type="dcterms:W3CDTF">2026-09-23T14:43:59Z</dcterms:modified>
</cp:coreProperties>
</file>