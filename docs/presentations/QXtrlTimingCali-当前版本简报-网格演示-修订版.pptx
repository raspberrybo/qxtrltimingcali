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8472ae45274da3" /><Relationship Type="http://schemas.openxmlformats.org/officeDocument/2006/relationships/extended-properties" Target="/docProps/app.xml" Id="Rdb11fd2ddfd348af" /><Relationship Type="http://schemas.openxmlformats.org/officeDocument/2006/relationships/officeDocument" Target="/ppt/presentation.xml" Id="R9ebd0eb3a9bc49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957c908db64d61"/>
  </p:sldMasterIdLst>
  <p:notesMasterIdLst>
    <p:notesMasterId xmlns:r="http://schemas.openxmlformats.org/officeDocument/2006/relationships" r:id="R33e7ccccdb8b4a92"/>
  </p:notesMasterIdLst>
  <p:sldIdLst>
    <p:sldId xmlns:r="http://schemas.openxmlformats.org/officeDocument/2006/relationships" id="256" r:id="R09bf886a065f4f31"/>
    <p:sldId xmlns:r="http://schemas.openxmlformats.org/officeDocument/2006/relationships" id="257" r:id="Ra942a06f40804b99"/>
    <p:sldId xmlns:r="http://schemas.openxmlformats.org/officeDocument/2006/relationships" id="258" r:id="R573b579172d84dd0"/>
    <p:sldId xmlns:r="http://schemas.openxmlformats.org/officeDocument/2006/relationships" id="259" r:id="Ra5e458a50b1244ef"/>
    <p:sldId xmlns:r="http://schemas.openxmlformats.org/officeDocument/2006/relationships" id="260" r:id="R362624d74f9940de"/>
    <p:sldId xmlns:r="http://schemas.openxmlformats.org/officeDocument/2006/relationships" id="261" r:id="Ree8974262daa4b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8aeead2c164cb8" /><Relationship Type="http://schemas.openxmlformats.org/officeDocument/2006/relationships/slideMaster" Target="/ppt/slideMasters/slideMaster1.xml" Id="R81957c908db64d61" /><Relationship Type="http://schemas.openxmlformats.org/officeDocument/2006/relationships/notesMaster" Target="/ppt/notesMasters/notesMaster1.xml" Id="R33e7ccccdb8b4a92" /><Relationship Type="http://schemas.openxmlformats.org/officeDocument/2006/relationships/presProps" Target="/ppt/presProps.xml" Id="Rc1bc9409aef44448" /><Relationship Type="http://schemas.openxmlformats.org/officeDocument/2006/relationships/tableStyles" Target="/ppt/tableStyles.xml" Id="R5bf8848b79484872" /><Relationship Type="http://schemas.openxmlformats.org/officeDocument/2006/relationships/slide" Target="/ppt/slides/slide1.xml" Id="R09bf886a065f4f31" /><Relationship Type="http://schemas.openxmlformats.org/officeDocument/2006/relationships/slide" Target="/ppt/slides/slide2.xml" Id="Ra942a06f40804b99" /><Relationship Type="http://schemas.openxmlformats.org/officeDocument/2006/relationships/slide" Target="/ppt/slides/slide3.xml" Id="R573b579172d84dd0" /><Relationship Type="http://schemas.openxmlformats.org/officeDocument/2006/relationships/slide" Target="/ppt/slides/slide4.xml" Id="Ra5e458a50b1244ef" /><Relationship Type="http://schemas.openxmlformats.org/officeDocument/2006/relationships/slide" Target="/ppt/slides/slide5.xml" Id="R362624d74f9940de" /><Relationship Type="http://schemas.openxmlformats.org/officeDocument/2006/relationships/slide" Target="/ppt/slides/slide6.xml" Id="Ree8974262daa4b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3a9adf75d54b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126f2dead64c2b" /><Relationship Type="http://schemas.openxmlformats.org/officeDocument/2006/relationships/notesMaster" Target="/ppt/notesMasters/notesMaster1.xml" Id="Re92c61a1daa34e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10e2420c0e414c" /><Relationship Type="http://schemas.openxmlformats.org/officeDocument/2006/relationships/notesMaster" Target="/ppt/notesMasters/notesMaster1.xml" Id="Ra87e03ae2d8347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eb09be3c434477" /><Relationship Type="http://schemas.openxmlformats.org/officeDocument/2006/relationships/notesMaster" Target="/ppt/notesMasters/notesMaster1.xml" Id="R007dd632f55c4e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bfa83af9d74215" /><Relationship Type="http://schemas.openxmlformats.org/officeDocument/2006/relationships/notesMaster" Target="/ppt/notesMasters/notesMaster1.xml" Id="Re83a129b59694a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79e77818614dc2" /><Relationship Type="http://schemas.openxmlformats.org/officeDocument/2006/relationships/notesMaster" Target="/ppt/notesMasters/notesMaster1.xml" Id="R676d4f8c378041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12081742fa428a" /><Relationship Type="http://schemas.openxmlformats.org/officeDocument/2006/relationships/notesMaster" Target="/ppt/notesMasters/notesMaster1.xml" Id="R56d0b97b314e46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来源（当前工作区版本）：</a:t>
            </a:r>
          </a:p>
          <a:p xmlns:a="http://schemas.openxmlformats.org/drawingml/2006/main">
            <a:r>
              <a:t>C:\Users\xl\Documents\XGM\Codes\QXtrlTimingCali\README.md</a:t>
            </a:r>
          </a:p>
          <a:p xmlns:a="http://schemas.openxmlformats.org/drawingml/2006/main">
            <a:r>
              <a:t>C:\Users\xl\Documents\XGM\Codes\QXtrlTimingCali\qxtrl_timing_cali\review\contracts.py</a:t>
            </a:r>
          </a:p>
          <a:p xmlns:a="http://schemas.openxmlformats.org/drawingml/2006/main">
            <a:r>
              <a:t>C:\Users\xl\Documents\XGM\Codes\QXtrlTimingCali\pyproject.toml</a:t>
            </a:r>
          </a:p>
          <a:p xmlns:a="http://schemas.openxmlformats.org/drawingml/2006/main">
            <a:r>
              <a:t>包版本 v0.4.1。架构说明修订 v0.3.3。理想无噪声且初始补偿 d=0、所有线全局连通时，最小非负补偿为 d_i=max(L)-L_i，最终所有 q_i=max(L)。有既有补偿时目标由当前 q 的最右位置及合法余量收回约束决定；真实测量仅按容差验收，不声称严格数值相等。符号约定：skew = q(new) − q(ref)。校准位移仅右移，headroom_return 是授予余额约束下的例外。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来源（当前工作区版本）：</a:t>
            </a:r>
          </a:p>
          <a:p xmlns:a="http://schemas.openxmlformats.org/drawingml/2006/main">
            <a:r>
              <a:t>C:\Users\xl\Documents\XGM\Codes\QXtrlTimingCali\docs\gen_architecture.py</a:t>
            </a:r>
          </a:p>
          <a:p xmlns:a="http://schemas.openxmlformats.org/drawingml/2006/main">
            <a:r>
              <a:t>C:\Users\xl\Documents\XGM\Codes\QXtrlTimingCali\qxtrl_timing_cali\review\center.py</a:t>
            </a:r>
          </a:p>
          <a:p xmlns:a="http://schemas.openxmlformats.org/drawingml/2006/main">
            <a:r>
              <a:t>C:\Users\xl\Documents\XGM\Codes\QXtrlTimingCali\qxtrl_timing_cali\review\ledger.py</a:t>
            </a:r>
          </a:p>
          <a:p xmlns:a="http://schemas.openxmlformats.org/drawingml/2006/main">
            <a:r>
              <a:t>C:\Users\xl\Documents\XGM\Codes\QXtrlTimingCali\qxtrl_timing_cali\review\solver.py</a:t>
            </a:r>
          </a:p>
          <a:p xmlns:a="http://schemas.openxmlformats.org/drawingml/2006/main">
            <a:r>
              <a:t>模拟后端已提供 SimExecutor / SimChip。真实后端应实现 ExecutorAdapter 契约，返回合法测量结果，并完成 pending 与设备状态同步、写回后的位移下发及恢复核对；可通过 DirectExecutor 或 FileQueue 接入。满足接口与设备同步要求后无需重写选边、求解与守卫流程，即可开展真实实验。真实阈值仍需按设备经验配置。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来源（当前工作区版本）：</a:t>
            </a:r>
          </a:p>
          <a:p xmlns:a="http://schemas.openxmlformats.org/drawingml/2006/main">
            <a:r>
              <a:t>C:\Users\xl\Documents\XGM\Codes\QXtrlTimingCali\README.md</a:t>
            </a:r>
          </a:p>
          <a:p xmlns:a="http://schemas.openxmlformats.org/drawingml/2006/main">
            <a:r>
              <a:t>C:\Users\xl\Documents\XGM\Codes\QXtrlTimingCali\qxtrl_timing_cali\stages.py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来源（当前工作区版本）：</a:t>
            </a:r>
          </a:p>
          <a:p xmlns:a="http://schemas.openxmlformats.org/drawingml/2006/main">
            <a:r>
              <a:t>C:\Users\xl\Documents\XGM\Codes\QXtrlTimingCali\qxtrl_timing_cali\review\center.py</a:t>
            </a:r>
          </a:p>
          <a:p xmlns:a="http://schemas.openxmlformats.org/drawingml/2006/main">
            <a:r>
              <a:t>C:\Users\xl\Documents\XGM\Codes\QXtrlTimingCali\qxtrl_timing_cali\review\solver.py</a:t>
            </a:r>
          </a:p>
          <a:p xmlns:a="http://schemas.openxmlformats.org/drawingml/2006/main">
            <a:r>
              <a:t>C:\Users\xl\Documents\XGM\Codes\QXtrlTimingCali\qxtrl_timing_cali\review\writeback.py</a:t>
            </a:r>
          </a:p>
          <a:p xmlns:a="http://schemas.openxmlformats.org/drawingml/2006/main">
            <a:r>
              <a:t>C:\Users\xl\Documents\XGM\Codes\QXtrlTimingCali\qxtrl_timing_cali\review\session.py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来源（当前工作区版本）：</a:t>
            </a:r>
          </a:p>
          <a:p xmlns:a="http://schemas.openxmlformats.org/drawingml/2006/main">
            <a:r>
              <a:t>C:\Users\xl\Documents\XGM\Codes\QXtrlTimingCali\docs\parallel-data.json</a:t>
            </a:r>
          </a:p>
          <a:p xmlns:a="http://schemas.openxmlformats.org/drawingml/2006/main">
            <a:r>
              <a:t>C:\Users\xl\Documents\XGM\Codes\QXtrlTimingCali\docs\gen_parallel_animation.py</a:t>
            </a:r>
          </a:p>
          <a:p xmlns:a="http://schemas.openxmlformats.org/drawingml/2006/main">
            <a:r>
              <a:t>C:\Users\xl\Documents\XGM\Codes\QXtrlTimingCali\qxtrl_timing_cali\review\graph.py</a:t>
            </a:r>
          </a:p>
          <a:p xmlns:a="http://schemas.openxmlformats.org/drawingml/2006/main">
            <a:r>
              <a:t>C:\Users\xl\Documents\XGM\Codes\QXtrlTimingCali\qxtrl_timing_cali\review\parallel.py</a:t>
            </a:r>
          </a:p>
          <a:p xmlns:a="http://schemas.openxmlformats.org/drawingml/2006/main">
            <a:r>
              <a:t>上下、左右最近邻全部连接，横向及纵向各 12 个耦合器。耦合器组选出 15 条 Q.z-Q.z 和 24 条 CP.z-Q.z，共 39 条测量。Q10.z 参与 7 条测量，因此当前测量树至少需要 7 波；实际波数为 7，边数 6、7、7、6、7、3、3。全程 63 条测量 / 10 波 / 18 束。链接指向同目录自包含 HTML，解压后保持 PPT 与 HTML 在同一目录；放映时点击链接后在浏览器交互，单波结束自动暂停。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来源（当前工作区版本）：</a:t>
            </a:r>
          </a:p>
          <a:p xmlns:a="http://schemas.openxmlformats.org/drawingml/2006/main">
            <a:r>
              <a:t>C:\Users\xl\Documents\XGM\Codes\QXtrlTimingCali\README.md</a:t>
            </a:r>
          </a:p>
          <a:p xmlns:a="http://schemas.openxmlformats.org/drawingml/2006/main">
            <a:r>
              <a:t>C:\Users\xl\Documents\XGM\Codes\QXtrlTimingCali\docs\gen_architecture.py</a:t>
            </a:r>
          </a:p>
          <a:p xmlns:a="http://schemas.openxmlformats.org/drawingml/2006/main">
            <a:r>
              <a:t>C:\Users\xl\Documents\XGM\Codes\QXtrlTimingCali\docs\parallel-data.json</a:t>
            </a:r>
          </a:p>
          <a:p xmlns:a="http://schemas.openxmlformats.org/drawingml/2006/main">
            <a:r>
              <a:t>C:\Users\xl\Documents\XGM\Codes\QXtrlTimingCali\qxtrl_timing_cali\review\policies.py</a:t>
            </a:r>
          </a:p>
          <a:p xmlns:a="http://schemas.openxmlformats.org/drawingml/2006/main">
            <a:r>
              <a:t>C:\Users\xl\Documents\XGM\Codes\QXtrlTimingCali\tests\test_hardening.py</a:t>
            </a:r>
          </a:p>
          <a:p xmlns:a="http://schemas.openxmlformats.org/drawingml/2006/main">
            <a:r>
              <a:t>精确残差为 0.150633 ns。该数值来自模拟 truth 对账，不能解释为真机测量精度。恢复前必须确认设备与 pending 同步。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2f6dcd8c1748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3afb34931a45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e90d4b17114f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234235adbb46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04c5822a2b4e5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5dcef1342a46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F9CDB8-FF99-4CF8-9D67-471AD55A02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9CD5B63-32A6-4761-BFC0-38570345D12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B061D46-CF84-490B-A293-94350276AA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3B19E1-FA96-4234-9116-3CDBA1B512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13DB806-C8E3-4547-BBAC-8DB39A2DFA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CFB5AD4-46BC-4025-B96B-191CB80C97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DF7476-2541-4914-9F5C-E586C0950D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B02A6FB-455E-4AEE-BF70-3F291C60BA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A6FFB6-7D52-42DA-B20B-851031689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4705AE-EE09-4213-8D31-0EBD97BE00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c4aedccc984ab2" /><Relationship Type="http://schemas.openxmlformats.org/officeDocument/2006/relationships/slideLayout" Target="/ppt/slideLayouts/slideLayout1.xml" Id="Re6fc03ae6b024652" /><Relationship Type="http://schemas.openxmlformats.org/officeDocument/2006/relationships/slideLayout" Target="/ppt/slideLayouts/slideLayout2.xml" Id="Rb7037e7b9cf84edb" /><Relationship Type="http://schemas.openxmlformats.org/officeDocument/2006/relationships/slideLayout" Target="/ppt/slideLayouts/slideLayout3.xml" Id="R0e6c6c3b01b04642" /><Relationship Type="http://schemas.openxmlformats.org/officeDocument/2006/relationships/slideLayout" Target="/ppt/slideLayouts/slideLayout4.xml" Id="Rb761c7304abf4f19" /><Relationship Type="http://schemas.openxmlformats.org/officeDocument/2006/relationships/slideLayout" Target="/ppt/slideLayouts/slideLayout5.xml" Id="Rc4f18f66ce304044" /><Relationship Type="http://schemas.openxmlformats.org/officeDocument/2006/relationships/slideLayout" Target="/ppt/slideLayouts/slideLayout6.xml" Id="R14d3f27adf6a43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fc03ae6b024652"/>
    <p:sldLayoutId xmlns:r="http://schemas.openxmlformats.org/officeDocument/2006/relationships" id="2147483650" r:id="Rb7037e7b9cf84edb"/>
    <p:sldLayoutId xmlns:r="http://schemas.openxmlformats.org/officeDocument/2006/relationships" id="2147483651" r:id="R0e6c6c3b01b04642"/>
    <p:sldLayoutId xmlns:r="http://schemas.openxmlformats.org/officeDocument/2006/relationships" id="2147483652" r:id="Rb761c7304abf4f19"/>
    <p:sldLayoutId xmlns:r="http://schemas.openxmlformats.org/officeDocument/2006/relationships" id="2147483653" r:id="Rc4f18f66ce304044"/>
    <p:sldLayoutId xmlns:r="http://schemas.openxmlformats.org/officeDocument/2006/relationships" id="2147483654" r:id="R14d3f27adf6a43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95f4e88b544438" /><Relationship Type="http://schemas.openxmlformats.org/officeDocument/2006/relationships/notesSlide" Target="/ppt/notesSlides/notesSlide1.xml" Id="R4f6227a89eb444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0a2909be7c4f1d" /><Relationship Type="http://schemas.openxmlformats.org/officeDocument/2006/relationships/notesSlide" Target="/ppt/notesSlides/notesSlide2.xml" Id="Red11a717ac224e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4ea5cf912d4e52" /><Relationship Type="http://schemas.openxmlformats.org/officeDocument/2006/relationships/notesSlide" Target="/ppt/notesSlides/notesSlide3.xml" Id="R3f1f34e9824842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bf12af9059411b" /><Relationship Type="http://schemas.openxmlformats.org/officeDocument/2006/relationships/notesSlide" Target="/ppt/notesSlides/notesSlide4.xml" Id="Rf7577cade7874a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45143bb2c149e0" /><Relationship Type="http://schemas.openxmlformats.org/officeDocument/2006/relationships/image" Target="/ppt/media/image.png" Id="Rd6bd3c7627d645ce" /><Relationship Type="http://schemas.openxmlformats.org/officeDocument/2006/relationships/hyperlink" Target="demo-animation-parallel.html" TargetMode="External" Id="R1a5ee09adc1a4ae5" /><Relationship Type="http://schemas.openxmlformats.org/officeDocument/2006/relationships/notesSlide" Target="/ppt/notesSlides/notesSlide5.xml" Id="R661333ba11b645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e46afd53f14ef7" /><Relationship Type="http://schemas.openxmlformats.org/officeDocument/2006/relationships/notesSlide" Target="/ppt/notesSlides/notesSlide6.xml" Id="Ref41372c9e6a4b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QXtrlTimingCali">
            <a:extLst xmlns:a="http://schemas.openxmlformats.org/drawingml/2006/main">
              <a:ext uri="{FF2B5EF4-FFF2-40B4-BE49-F238E27FC236}">
                <a16:creationId xmlns:a16="http://schemas.microsoft.com/office/drawing/2014/main" id="{776CFF60-85C3-4D07-8DEF-9E880B23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QXtrlTimingCali</a:t>
            </a:r>
          </a:p>
        </p:txBody>
      </p:sp>
      <p:sp>
        <p:nvSpPr>
          <p:cNvPr id="2" name="超导量子比特 Timing 校准系统">
            <a:extLst xmlns:a="http://schemas.openxmlformats.org/drawingml/2006/main">
              <a:ext uri="{FF2B5EF4-FFF2-40B4-BE49-F238E27FC236}">
                <a16:creationId xmlns:a16="http://schemas.microsoft.com/office/drawing/2014/main" id="{E3224AF0-EDE8-4CCB-B6CF-5056D047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超导量子比特 Timing 校准系统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B6BAE9B3-F941-4E6A-97AA-75DFAA10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测相对时序&#10;统一求解逐线位移">
            <a:extLst xmlns:a="http://schemas.openxmlformats.org/drawingml/2006/main">
              <a:ext uri="{FF2B5EF4-FFF2-40B4-BE49-F238E27FC236}">
                <a16:creationId xmlns:a16="http://schemas.microsoft.com/office/drawing/2014/main" id="{DDE3A2E0-329D-41FD-B763-9E788546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测相对时序</a:t>
            </a:r>
          </a:p>
          <a:p xmlns:a="http://schemas.openxmlformats.org/drawingml/2006/main">
            <a:pPr>
              <a:defRPr sz="39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统一求解逐线位移</a:t>
            </a:r>
          </a:p>
        </p:txBody>
      </p:sp>
      <p:sp>
        <p:nvSpPr>
          <p:cNvPr id="5" name="q = L + d">
            <a:extLst xmlns:a="http://schemas.openxmlformats.org/drawingml/2006/main">
              <a:ext uri="{FF2B5EF4-FFF2-40B4-BE49-F238E27FC236}">
                <a16:creationId xmlns:a16="http://schemas.microsoft.com/office/drawing/2014/main" id="{148304BB-7B9B-48F8-BFED-C2B3006F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q = L + d</a:t>
            </a:r>
          </a:p>
        </p:txBody>
      </p:sp>
      <p:sp>
        <p:nvSpPr>
          <p:cNvPr id="6" name="L：隐藏物理延时&#10;d：累计校准位移">
            <a:extLst xmlns:a="http://schemas.openxmlformats.org/drawingml/2006/main">
              <a:ext uri="{FF2B5EF4-FFF2-40B4-BE49-F238E27FC236}">
                <a16:creationId xmlns:a16="http://schemas.microsoft.com/office/drawing/2014/main" id="{5AE79D91-5823-42AB-940B-BC680412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86125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L：隐藏物理延时</a:t>
            </a:r>
          </a:p>
          <a:p xmlns:a="http://schemas.openxmlformats.org/drawingml/2006/main">
            <a:pPr>
              <a:defRPr sz="202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d：累计校准位移</a:t>
            </a:r>
          </a:p>
        </p:txBody>
      </p:sp>
      <p:sp>
        <p:nvSpPr>
          <p:cNvPr id="7" name="理想目标（初始 d = 0）&#10;所有 q = ma">
            <a:extLst xmlns:a="http://schemas.openxmlformats.org/drawingml/2006/main">
              <a:ext uri="{FF2B5EF4-FFF2-40B4-BE49-F238E27FC236}">
                <a16:creationId xmlns:a16="http://schemas.microsoft.com/office/drawing/2014/main" id="{7E713B21-A446-4FFC-8952-51A6F0BE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52950"/>
            <a:ext cx="3524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理想目标（初始 d = 0）</a:t>
            </a:r>
          </a:p>
          <a:p xmlns:a="http://schemas.openxmlformats.org/drawingml/2006/main">
            <a:pPr>
              <a:defRPr sz="1875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所有 q = max(L)</a:t>
            </a:r>
          </a:p>
          <a:p xmlns:a="http://schemas.openxmlformats.org/drawingml/2006/main">
            <a:pPr>
              <a:defRPr sz="1875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实测按容差判定对齐</a:t>
            </a:r>
          </a:p>
        </p:txBody>
      </p:sp>
      <p:sp>
        <p:nvSpPr>
          <p:cNvPr id="8" name="外部执行方完成实验&#10;本系统申请测量、筛选结果并守">
            <a:extLst xmlns:a="http://schemas.openxmlformats.org/drawingml/2006/main">
              <a:ext uri="{FF2B5EF4-FFF2-40B4-BE49-F238E27FC236}">
                <a16:creationId xmlns:a16="http://schemas.microsoft.com/office/drawing/2014/main" id="{C536CCEF-1785-4117-8868-9EF4A43A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外部执行方完成实验</a:t>
            </a:r>
          </a:p>
          <a:p xmlns:a="http://schemas.openxmlformats.org/drawingml/2006/main">
            <a:pPr>
              <a:defRPr sz="210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本系统申请测量、筛选结果并守卫式回写</a:t>
            </a:r>
          </a:p>
        </p:txBody>
      </p:sp>
      <p:sp>
        <p:nvSpPr>
          <p:cNvPr id="9" name="当前 Phase-2    Python ≥ 3">
            <a:extLst xmlns:a="http://schemas.openxmlformats.org/drawingml/2006/main">
              <a:ext uri="{FF2B5EF4-FFF2-40B4-BE49-F238E27FC236}">
                <a16:creationId xmlns:a16="http://schemas.microsoft.com/office/drawing/2014/main" id="{529EA3D4-04D5-468C-B771-B0E6FE7B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当前 Phase-2    Python ≥ 3.10    运行时零第三方依赖</a:t>
            </a:r>
          </a:p>
        </p:txBody>
      </p:sp>
    </p:spTree>
    <p:extLst>
      <p:ext uri="{BB962C8B-B14F-4D97-AF65-F5344CB8AC3E}">
        <p14:creationId xmlns:p14="http://schemas.microsoft.com/office/powerpoint/2010/main" val="15572199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模块分工">
            <a:extLst xmlns:a="http://schemas.openxmlformats.org/drawingml/2006/main">
              <a:ext uri="{FF2B5EF4-FFF2-40B4-BE49-F238E27FC236}">
                <a16:creationId xmlns:a16="http://schemas.microsoft.com/office/drawing/2014/main" id="{1C2116CC-09A1-461D-B0D9-A395D3FA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模块分工</a:t>
            </a:r>
          </a:p>
        </p:txBody>
      </p:sp>
      <p:sp>
        <p:nvSpPr>
          <p:cNvPr id="2" name="两套编排器共用一套校准内核">
            <a:extLst xmlns:a="http://schemas.openxmlformats.org/drawingml/2006/main">
              <a:ext uri="{FF2B5EF4-FFF2-40B4-BE49-F238E27FC236}">
                <a16:creationId xmlns:a16="http://schemas.microsoft.com/office/drawing/2014/main" id="{77ECA34E-4754-46DA-8DD1-18F2A8FA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两套编排器共用一套校准内核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8AEC084E-C07A-4632-9A74-B05C5918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F8738-F9D2-4F32-B360-443B91E91D0E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714750"/>
                <a:gridCol w="510540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主要职责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配置与静态工具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chip_gen / wiring_gen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validate / visualize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 JSON 配置、交叉校验与可视化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流程编排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pipeline / stages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安排测量边、阶段依赖和写回时机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共用校准内核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review 包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契约、策略、测量台账、选边、求解与守卫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执行后端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模拟：SimExecutor / SimChip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真实：ExecutorAdapter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模拟验证 / 真实测量与设备同步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实现真实后端的测量与设备同步，即可复用现有流程开">
            <a:extLst xmlns:a="http://schemas.openxmlformats.org/drawingml/2006/main">
              <a:ext uri="{FF2B5EF4-FFF2-40B4-BE49-F238E27FC236}">
                <a16:creationId xmlns:a16="http://schemas.microsoft.com/office/drawing/2014/main" id="{3D1E705A-6480-4203-8E4E-68676ABA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实现真实后端的测量与设备同步，即可复用现有流程开展真实校准</a:t>
            </a:r>
          </a:p>
        </p:txBody>
      </p:sp>
    </p:spTree>
    <p:extLst>
      <p:ext uri="{BB962C8B-B14F-4D97-AF65-F5344CB8AC3E}">
        <p14:creationId xmlns:p14="http://schemas.microsoft.com/office/powerpoint/2010/main" val="2363843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四组六步校准">
            <a:extLst xmlns:a="http://schemas.openxmlformats.org/drawingml/2006/main">
              <a:ext uri="{FF2B5EF4-FFF2-40B4-BE49-F238E27FC236}">
                <a16:creationId xmlns:a16="http://schemas.microsoft.com/office/drawing/2014/main" id="{6C50D65A-F0D8-4C22-9511-8A0E23FC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四组六步校准</a:t>
            </a:r>
          </a:p>
        </p:txBody>
      </p:sp>
      <p:sp>
        <p:nvSpPr>
          <p:cNvPr id="2" name="实验顺序由读取基准和共同测量基线决定">
            <a:extLst xmlns:a="http://schemas.openxmlformats.org/drawingml/2006/main">
              <a:ext uri="{FF2B5EF4-FFF2-40B4-BE49-F238E27FC236}">
                <a16:creationId xmlns:a16="http://schemas.microsoft.com/office/drawing/2014/main" id="{B56C8B2B-7125-449A-8EA7-8D4F1B12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实验顺序由读取基准和共同测量基线决定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B5B697E0-D369-41B4-81B3-DABC45DE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92FF6-F123-4926-BD90-457F11DC4C0C}"/>
              </a:ext>
            </a:extLst>
          </p:cNvPr>
          <p:cNvGraphicFramePr/>
          <p:nvPr/>
        </p:nvGraphicFramePr>
        <p:xfrm>
          <a:off xmlns:a="http://schemas.openxmlformats.org/drawingml/2006/main" x="685800" y="1838325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2095500"/>
                <a:gridCol w="6057900"/>
                <a:gridCol w="180975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 / 动作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文件写回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读取线组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对齐 ro 与 ri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即时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授予 headroom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读取线整体右移，记录授予余额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即时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单比特组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 XY 与 Z 的相对时序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仅记录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耦合器组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测量跨比特与耦合器的相对时序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仅记录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统一求解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合并步骤 3、4 的观测，整批求解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整批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读取线收尾组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连接读取与比特基准，按余额收回 headroom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即时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步骤 3、4 保持同一 config_hash，">
            <a:extLst xmlns:a="http://schemas.openxmlformats.org/drawingml/2006/main">
              <a:ext uri="{FF2B5EF4-FFF2-40B4-BE49-F238E27FC236}">
                <a16:creationId xmlns:a16="http://schemas.microsoft.com/office/drawing/2014/main" id="{7C37EEB0-B486-4569-A109-FEDFC3A1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步骤 3、4 保持同一 config_hash，写回后旧观测失效</a:t>
            </a:r>
          </a:p>
        </p:txBody>
      </p:sp>
    </p:spTree>
    <p:extLst>
      <p:ext uri="{BB962C8B-B14F-4D97-AF65-F5344CB8AC3E}">
        <p14:creationId xmlns:p14="http://schemas.microsoft.com/office/powerpoint/2010/main" val="12828813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数值验收与回写守卫">
            <a:extLst xmlns:a="http://schemas.openxmlformats.org/drawingml/2006/main">
              <a:ext uri="{FF2B5EF4-FFF2-40B4-BE49-F238E27FC236}">
                <a16:creationId xmlns:a16="http://schemas.microsoft.com/office/drawing/2014/main" id="{4F9D4C70-41CB-4AF9-ABEE-24448E48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数值验收与回写守卫</a:t>
            </a:r>
          </a:p>
        </p:txBody>
      </p:sp>
      <p:sp>
        <p:nvSpPr>
          <p:cNvPr id="2" name="未收敛的解禁止推进文件、会话和设备">
            <a:extLst xmlns:a="http://schemas.openxmlformats.org/drawingml/2006/main">
              <a:ext uri="{FF2B5EF4-FFF2-40B4-BE49-F238E27FC236}">
                <a16:creationId xmlns:a16="http://schemas.microsoft.com/office/drawing/2014/main" id="{A969B73A-49DF-480C-93A4-CE679493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未收敛的解禁止推进文件、会话和设备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466D08F5-16ED-423E-8AD3-111F1DEB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2690B-2832-4275-B72A-9B4768213B36}"/>
              </a:ext>
            </a:extLst>
          </p:cNvPr>
          <p:cNvGraphicFramePr/>
          <p:nvPr/>
        </p:nvGraphicFramePr>
        <p:xfrm>
          <a:off xmlns:a="http://schemas.openxmlformats.org/drawingml/2006/main" x="685800" y="1981200"/>
          <a:ext xmlns:a="http://schemas.openxmlformats.org/drawingml/2006/main" cx="70485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5429250"/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守卫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检查内容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CAS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 pending 指纹与申请基线一致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单调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校准位移非负，收回量不超授予余额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每线累计延时不超过 d_max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原子写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同目录临时文件替换，保留备份和审计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输入先校验">
            <a:extLst xmlns:a="http://schemas.openxmlformats.org/drawingml/2006/main">
              <a:ext uri="{FF2B5EF4-FFF2-40B4-BE49-F238E27FC236}">
                <a16:creationId xmlns:a16="http://schemas.microsoft.com/office/drawing/2014/main" id="{DE7EBD78-6E41-4306-B20C-56DD818A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输入先校验</a:t>
            </a:r>
          </a:p>
        </p:txBody>
      </p:sp>
      <p:sp>
        <p:nvSpPr>
          <p:cNvPr id="6" name="拒收 NaN、Inf&#10;拒收非法 σ 与评分">
            <a:extLst xmlns:a="http://schemas.openxmlformats.org/drawingml/2006/main">
              <a:ext uri="{FF2B5EF4-FFF2-40B4-BE49-F238E27FC236}">
                <a16:creationId xmlns:a16="http://schemas.microsoft.com/office/drawing/2014/main" id="{73E9A8C7-FD8B-45F3-8458-C36F71B4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3286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拒收 NaN、Inf</a:t>
            </a:r>
          </a:p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拒收非法 σ 与评分</a:t>
            </a:r>
          </a:p>
        </p:txBody>
      </p:sp>
      <p:sp>
        <p:nvSpPr>
          <p:cNvPr id="7" name="会话完整验收后更新">
            <a:extLst xmlns:a="http://schemas.openxmlformats.org/drawingml/2006/main">
              <a:ext uri="{FF2B5EF4-FFF2-40B4-BE49-F238E27FC236}">
                <a16:creationId xmlns:a16="http://schemas.microsoft.com/office/drawing/2014/main" id="{3FB064C2-0A83-4D82-9843-115515CC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328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会话完整验收后更新</a:t>
            </a:r>
          </a:p>
        </p:txBody>
      </p:sp>
      <p:sp>
        <p:nvSpPr>
          <p:cNvPr id="8" name="守卫拒绝时 pending 保持原样，审计记录原">
            <a:extLst xmlns:a="http://schemas.openxmlformats.org/drawingml/2006/main">
              <a:ext uri="{FF2B5EF4-FFF2-40B4-BE49-F238E27FC236}">
                <a16:creationId xmlns:a16="http://schemas.microsoft.com/office/drawing/2014/main" id="{CD1E67FF-FA5E-48D6-8B31-F8A4B0A5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守卫拒绝时 pending 保持原样，审计记录原因</a:t>
            </a:r>
          </a:p>
        </p:txBody>
      </p:sp>
    </p:spTree>
    <p:extLst>
      <p:ext uri="{BB962C8B-B14F-4D97-AF65-F5344CB8AC3E}">
        <p14:creationId xmlns:p14="http://schemas.microsoft.com/office/powerpoint/2010/main" val="10832448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并行示例：网格、冲突波与提交束">
            <a:extLst xmlns:a="http://schemas.openxmlformats.org/drawingml/2006/main">
              <a:ext uri="{FF2B5EF4-FFF2-40B4-BE49-F238E27FC236}">
                <a16:creationId xmlns:a16="http://schemas.microsoft.com/office/drawing/2014/main" id="{3D27FF3E-91AC-4742-AE6F-816BA7F5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并行示例：网格、冲突波与提交束</a:t>
            </a:r>
          </a:p>
        </p:txBody>
      </p:sp>
      <p:sp>
        <p:nvSpPr>
          <p:cNvPr id="2" name="4×4 最近邻网格 · 24 个耦合器 · 64">
            <a:extLst xmlns:a="http://schemas.openxmlformats.org/drawingml/2006/main">
              <a:ext uri="{FF2B5EF4-FFF2-40B4-BE49-F238E27FC236}">
                <a16:creationId xmlns:a16="http://schemas.microsoft.com/office/drawing/2014/main" id="{DD6B81D7-5F0B-4EEF-B316-A90C8994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4×4 最近邻网格 · 24 个耦合器 · 64 条信号线 · 每束最多 4 条测量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7CC0232C-258A-4F42-A782-18BD652A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C8E88-B8FD-42B0-AAD4-FB788E2AE00F}"/>
              </a:ext>
            </a:extLst>
          </p:cNvPr>
          <p:cNvGraphicFramePr/>
          <p:nvPr/>
        </p:nvGraphicFramePr>
        <p:xfrm>
          <a:off xmlns:a="http://schemas.openxmlformats.org/drawingml/2006/main" x="685800" y="1990725"/>
          <a:ext xmlns:a="http://schemas.openxmlformats.org/drawingml/2006/main" cx="6286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333500"/>
                <a:gridCol w="1333500"/>
                <a:gridCol w="1333500"/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实验组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测量边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冲突波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提交束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读取线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单比特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耦合器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读取线收尾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929C2-E935-4626-BE69-1A96BE0BE1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d3c7627d645ce"/>
          <a:stretch xmlns:a="http://schemas.openxmlformats.org/drawingml/2006/main"/>
        </p:blipFill>
        <p:spPr>
          <a:xfrm xmlns:a="http://schemas.openxmlformats.org/drawingml/2006/main">
            <a:off x="7758616" y="1838325"/>
            <a:ext cx="3342268" cy="3162300"/>
          </a:xfrm>
          <a:prstGeom xmlns:a="http://schemas.openxmlformats.org/drawingml/2006/main" prst="rect">
            <a:avLst/>
          </a:prstGeom>
        </p:spPr>
      </p:pic>
      <p:sp>
        <p:nvSpPr>
          <p:cNvPr id="6" name="3.5× 理论比值（63 / 18）">
            <a:extLst xmlns:a="http://schemas.openxmlformats.org/drawingml/2006/main">
              <a:ext uri="{FF2B5EF4-FFF2-40B4-BE49-F238E27FC236}">
                <a16:creationId xmlns:a16="http://schemas.microsoft.com/office/drawing/2014/main" id="{B64212BB-BE6C-415A-AFC3-5F1F2DA8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3.5× 理论比值（63 / 18）</a:t>
            </a:r>
          </a:p>
        </p:txBody>
      </p:sp>
      <p:sp>
        <p:nvSpPr>
          <p:cNvPr id="7" name="最小生成树选边；共享线名则分波">
            <a:extLst xmlns:a="http://schemas.openxmlformats.org/drawingml/2006/main">
              <a:ext uri="{FF2B5EF4-FFF2-40B4-BE49-F238E27FC236}">
                <a16:creationId xmlns:a16="http://schemas.microsoft.com/office/drawing/2014/main" id="{E7DEE697-EB2B-4512-8D7C-8F90EA93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最小生成树选边；共享线名则分波</a:t>
            </a:r>
          </a:p>
        </p:txBody>
      </p:sp>
      <p:sp>
        <p:nvSpPr>
          <p:cNvPr id="8" name="打开交互演示 ↗">
            <a:extLst xmlns:a="http://schemas.openxmlformats.org/drawingml/2006/main">
              <a:ext uri="{FF2B5EF4-FFF2-40B4-BE49-F238E27FC236}">
                <a16:creationId xmlns:a16="http://schemas.microsoft.com/office/drawing/2014/main" id="{9B388221-771D-4DD9-BD03-84D75AD4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21970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a5ee09adc1a4ae5"/>
              </a:rPr>
              <a:t>打开交互演示 ↗</a:t>
            </a:r>
          </a:p>
        </p:txBody>
      </p:sp>
      <p:sp>
        <p:nvSpPr>
          <p:cNvPr id="9" name="等时、束内完全并发且忽略开销；非实测提速">
            <a:extLst xmlns:a="http://schemas.openxmlformats.org/drawingml/2006/main">
              <a:ext uri="{FF2B5EF4-FFF2-40B4-BE49-F238E27FC236}">
                <a16:creationId xmlns:a16="http://schemas.microsoft.com/office/drawing/2014/main" id="{791A4E0E-6688-417E-BA3F-409096DC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等时、束内完全并发且忽略开销；非实测提速</a:t>
            </a:r>
          </a:p>
        </p:txBody>
      </p:sp>
      <p:sp>
        <p:nvSpPr>
          <p:cNvPr id="10" name="点击波次 · 本波结束暂停">
            <a:extLst xmlns:a="http://schemas.openxmlformats.org/drawingml/2006/main">
              <a:ext uri="{FF2B5EF4-FFF2-40B4-BE49-F238E27FC236}">
                <a16:creationId xmlns:a16="http://schemas.microsoft.com/office/drawing/2014/main" id="{6337A8C6-2949-4E5C-ABFE-06C9A8B4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8007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点击波次 · 本波结束暂停</a:t>
            </a:r>
          </a:p>
        </p:txBody>
      </p:sp>
    </p:spTree>
    <p:extLst>
      <p:ext uri="{BB962C8B-B14F-4D97-AF65-F5344CB8AC3E}">
        <p14:creationId xmlns:p14="http://schemas.microsoft.com/office/powerpoint/2010/main" val="5474645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当前能力与边界">
            <a:extLst xmlns:a="http://schemas.openxmlformats.org/drawingml/2006/main">
              <a:ext uri="{FF2B5EF4-FFF2-40B4-BE49-F238E27FC236}">
                <a16:creationId xmlns:a16="http://schemas.microsoft.com/office/drawing/2014/main" id="{D047AF65-08B0-47B7-83AF-23B87505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当前能力与边界</a:t>
            </a:r>
          </a:p>
        </p:txBody>
      </p:sp>
      <p:sp>
        <p:nvSpPr>
          <p:cNvPr id="2" name="当前能力集中在模拟校准与可复现的流程验证">
            <a:extLst xmlns:a="http://schemas.openxmlformats.org/drawingml/2006/main">
              <a:ext uri="{FF2B5EF4-FFF2-40B4-BE49-F238E27FC236}">
                <a16:creationId xmlns:a16="http://schemas.microsoft.com/office/drawing/2014/main" id="{02A4FF43-9D17-4AF2-A382-06A0C816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当前能力集中在模拟校准与可复现的流程验证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C64D41B9-BAA2-49E3-B971-BCDD51B5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35BD6-C8AC-4076-9023-A5A7EB797793}"/>
              </a:ext>
            </a:extLst>
          </p:cNvPr>
          <p:cNvGraphicFramePr/>
          <p:nvPr/>
        </p:nvGraphicFramePr>
        <p:xfrm>
          <a:off xmlns:a="http://schemas.openxmlformats.org/drawingml/2006/main" x="685800" y="19812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772150"/>
              </a:tblGrid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已实现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当前边界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生成、校验、模拟与四组六步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真实阈值仍为占位值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质量筛选、全局求解与守卫回写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 truth 时，aligned 仅表示流程判据通过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测量日志、按组驱动与提交束接口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文件、设备与阶段日志尚未实现原子提交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0.151 ns">
            <a:extLst xmlns:a="http://schemas.openxmlformats.org/drawingml/2006/main">
              <a:ext uri="{FF2B5EF4-FFF2-40B4-BE49-F238E27FC236}">
                <a16:creationId xmlns:a16="http://schemas.microsoft.com/office/drawing/2014/main" id="{424AE079-BB6E-4046-B3E4-EF543630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3857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0.151 ns</a:t>
            </a:r>
          </a:p>
        </p:txBody>
      </p:sp>
      <p:sp>
        <p:nvSpPr>
          <p:cNvPr id="6" name="并行示例的模拟对账残差&#10;低于当前 0.5 ns ">
            <a:extLst xmlns:a="http://schemas.openxmlformats.org/drawingml/2006/main">
              <a:ext uri="{FF2B5EF4-FFF2-40B4-BE49-F238E27FC236}">
                <a16:creationId xmlns:a16="http://schemas.microsoft.com/office/drawing/2014/main" id="{C224BE65-802F-42AA-B74B-F6A10F3E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72100"/>
            <a:ext cx="676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并行示例的模拟对账残差</a:t>
            </a:r>
          </a:p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低于当前 0.5 ns 容差</a:t>
            </a:r>
          </a:p>
        </p:txBody>
      </p:sp>
    </p:spTree>
    <p:extLst>
      <p:ext uri="{BB962C8B-B14F-4D97-AF65-F5344CB8AC3E}">
        <p14:creationId xmlns:p14="http://schemas.microsoft.com/office/powerpoint/2010/main" val="699355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2026-10-08T09:22:48.5080000Z</dcterms:created>
  <dcterms:modified xsi:type="dcterms:W3CDTF">2026-10-08T09:22:48.5080000Z</dcterms:modified>
</coreProperties>
</file>