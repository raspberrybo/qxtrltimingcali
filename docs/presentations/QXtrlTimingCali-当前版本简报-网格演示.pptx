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9ceaeeefb54d63" /><Relationship Type="http://schemas.openxmlformats.org/officeDocument/2006/relationships/extended-properties" Target="/docProps/app.xml" Id="R836c220325a24a5c" /><Relationship Type="http://schemas.openxmlformats.org/officeDocument/2006/relationships/officeDocument" Target="/ppt/presentation.xml" Id="Rfc438896fbc14c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7eb35278b348aa"/>
  </p:sldMasterIdLst>
  <p:notesMasterIdLst>
    <p:notesMasterId xmlns:r="http://schemas.openxmlformats.org/officeDocument/2006/relationships" r:id="R66aba79c09134fa1"/>
  </p:notesMasterIdLst>
  <p:sldIdLst>
    <p:sldId xmlns:r="http://schemas.openxmlformats.org/officeDocument/2006/relationships" id="256" r:id="Rb71067e82dc84fca"/>
    <p:sldId xmlns:r="http://schemas.openxmlformats.org/officeDocument/2006/relationships" id="257" r:id="Rf81cff7c73474b83"/>
    <p:sldId xmlns:r="http://schemas.openxmlformats.org/officeDocument/2006/relationships" id="258" r:id="R9d6421bc7a2d4242"/>
    <p:sldId xmlns:r="http://schemas.openxmlformats.org/officeDocument/2006/relationships" id="259" r:id="R21cdce46cc3d42fe"/>
    <p:sldId xmlns:r="http://schemas.openxmlformats.org/officeDocument/2006/relationships" id="260" r:id="R542fc44dd7fc4d77"/>
    <p:sldId xmlns:r="http://schemas.openxmlformats.org/officeDocument/2006/relationships" id="261" r:id="R0f1b642ff85140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1783bece24059" /><Relationship Type="http://schemas.openxmlformats.org/officeDocument/2006/relationships/slideMaster" Target="/ppt/slideMasters/slideMaster1.xml" Id="Rd57eb35278b348aa" /><Relationship Type="http://schemas.openxmlformats.org/officeDocument/2006/relationships/notesMaster" Target="/ppt/notesMasters/notesMaster1.xml" Id="R66aba79c09134fa1" /><Relationship Type="http://schemas.openxmlformats.org/officeDocument/2006/relationships/presProps" Target="/ppt/presProps.xml" Id="R1abf58f2d98e4030" /><Relationship Type="http://schemas.openxmlformats.org/officeDocument/2006/relationships/tableStyles" Target="/ppt/tableStyles.xml" Id="R5a58869ec7eb40c3" /><Relationship Type="http://schemas.openxmlformats.org/officeDocument/2006/relationships/slide" Target="/ppt/slides/slide1.xml" Id="Rb71067e82dc84fca" /><Relationship Type="http://schemas.openxmlformats.org/officeDocument/2006/relationships/slide" Target="/ppt/slides/slide2.xml" Id="Rf81cff7c73474b83" /><Relationship Type="http://schemas.openxmlformats.org/officeDocument/2006/relationships/slide" Target="/ppt/slides/slide3.xml" Id="R9d6421bc7a2d4242" /><Relationship Type="http://schemas.openxmlformats.org/officeDocument/2006/relationships/slide" Target="/ppt/slides/slide4.xml" Id="R21cdce46cc3d42fe" /><Relationship Type="http://schemas.openxmlformats.org/officeDocument/2006/relationships/slide" Target="/ppt/slides/slide5.xml" Id="R542fc44dd7fc4d77" /><Relationship Type="http://schemas.openxmlformats.org/officeDocument/2006/relationships/slide" Target="/ppt/slides/slide6.xml" Id="R0f1b642ff85140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f50a8b3d8849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c6acc1270245c1" /><Relationship Type="http://schemas.openxmlformats.org/officeDocument/2006/relationships/notesMaster" Target="/ppt/notesMasters/notesMaster1.xml" Id="Rf110b59418554f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c98f06ce54ed2" /><Relationship Type="http://schemas.openxmlformats.org/officeDocument/2006/relationships/notesMaster" Target="/ppt/notesMasters/notesMaster1.xml" Id="Rbe827309a31e4b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5cf523ba024b55" /><Relationship Type="http://schemas.openxmlformats.org/officeDocument/2006/relationships/notesMaster" Target="/ppt/notesMasters/notesMaster1.xml" Id="Ra59d2d77b8a64a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c83ba2937a488b" /><Relationship Type="http://schemas.openxmlformats.org/officeDocument/2006/relationships/notesMaster" Target="/ppt/notesMasters/notesMaster1.xml" Id="R731fbab267bf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737ce382b49bb" /><Relationship Type="http://schemas.openxmlformats.org/officeDocument/2006/relationships/notesMaster" Target="/ppt/notesMasters/notesMaster1.xml" Id="Rad967f16455c4a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547dd0275b48c1" /><Relationship Type="http://schemas.openxmlformats.org/officeDocument/2006/relationships/notesMaster" Target="/ppt/notesMasters/notesMaster1.xml" Id="R50b5f8628bb1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C:\Users\xl\Documents\XGM\Codes\QXtrlTimingCali\qxtrl_timing_cali\review\contracts.py</a:t>
            </a:r>
          </a:p>
          <a:p xmlns:a="http://schemas.openxmlformats.org/drawingml/2006/main">
            <a:r>
              <a:t>C:\Users\xl\Documents\XGM\Codes\QXtrlTimingCali\pyproject.toml</a:t>
            </a:r>
          </a:p>
          <a:p xmlns:a="http://schemas.openxmlformats.org/drawingml/2006/main">
            <a:r>
              <a:t>包版本 v0.4.1。架构说明修订 v0.3.3。符号约定：skew = q(new) − q(ref)。校准位移仅右移，headroom_return 是授予余额约束下的例外。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C:\Users\xl\Documents\XGM\Codes\QXtrlTimingCali\qxtrl_timing_cali\review\ledger.py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C:\Users\xl\Documents\XGM\Codes\QXtrlTimingCali\qxtrl_timing_cali\stages.py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C:\Users\xl\Documents\XGM\Codes\QXtrlTimingCali\qxtrl_timing_cali\review\center.py</a:t>
            </a:r>
          </a:p>
          <a:p xmlns:a="http://schemas.openxmlformats.org/drawingml/2006/main">
            <a:r>
              <a:t>C:\Users\xl\Documents\XGM\Codes\QXtrlTimingCali\qxtrl_timing_cali\review\solver.py</a:t>
            </a:r>
          </a:p>
          <a:p xmlns:a="http://schemas.openxmlformats.org/drawingml/2006/main">
            <a:r>
              <a:t>C:\Users\xl\Documents\XGM\Codes\QXtrlTimingCali\qxtrl_timing_cali\review\writeback.py</a:t>
            </a:r>
          </a:p>
          <a:p xmlns:a="http://schemas.openxmlformats.org/drawingml/2006/main">
            <a:r>
              <a:t>C:\Users\xl\Documents\XGM\Codes\QXtrlTimingCali\qxtrl_timing_cali\review\session.py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C:\Users\xl\Documents\XGM\Codes\QXtrlTimingCali\docs\gen_parallel_animation.py</a:t>
            </a:r>
          </a:p>
          <a:p xmlns:a="http://schemas.openxmlformats.org/drawingml/2006/main">
            <a:r>
              <a:t>C:\Users\xl\Documents\XGM\Codes\QXtrlTimingCali\qxtrl_timing_cali\review\graph.py</a:t>
            </a:r>
          </a:p>
          <a:p xmlns:a="http://schemas.openxmlformats.org/drawingml/2006/main">
            <a:r>
              <a:t>C:\Users\xl\Documents\XGM\Codes\QXtrlTimingCali\qxtrl_timing_cali\review\parallel.py</a:t>
            </a:r>
          </a:p>
          <a:p xmlns:a="http://schemas.openxmlformats.org/drawingml/2006/main">
            <a:r>
              <a:t>上下、左右最近邻全部连接，横向及纵向各 12 个耦合器。耦合器组选出 15 条 Q.z-Q.z 和 24 条 CP.z-Q.z，共 39 条测量。Q10.z 参与 7 条测量，因此当前测量树至少需要 7 波；实际波数为 7，边数 6、7、7、6、7、3、3。全程 63 条测量 / 10 波 / 18 束。链接指向同目录自包含 HTML，解压后保持 PPT 与 HTML 在同一目录；放映时点击链接后在浏览器交互，单波结束自动暂停。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来源（当前工作区版本）：</a:t>
            </a:r>
          </a:p>
          <a:p xmlns:a="http://schemas.openxmlformats.org/drawingml/2006/main">
            <a:r>
              <a:t>C:\Users\xl\Documents\XGM\Codes\QXtrlTimingCali\README.md</a:t>
            </a:r>
          </a:p>
          <a:p xmlns:a="http://schemas.openxmlformats.org/drawingml/2006/main">
            <a:r>
              <a:t>C:\Users\xl\Documents\XGM\Codes\QXtrlTimingCali\docs\gen_architecture.py</a:t>
            </a:r>
          </a:p>
          <a:p xmlns:a="http://schemas.openxmlformats.org/drawingml/2006/main">
            <a:r>
              <a:t>C:\Users\xl\Documents\XGM\Codes\QXtrlTimingCali\docs\parallel-data.json</a:t>
            </a:r>
          </a:p>
          <a:p xmlns:a="http://schemas.openxmlformats.org/drawingml/2006/main">
            <a:r>
              <a:t>C:\Users\xl\Documents\XGM\Codes\QXtrlTimingCali\qxtrl_timing_cali\review\policies.py</a:t>
            </a:r>
          </a:p>
          <a:p xmlns:a="http://schemas.openxmlformats.org/drawingml/2006/main">
            <a:r>
              <a:t>C:\Users\xl\Documents\XGM\Codes\QXtrlTimingCali\tests\test_hardening.py</a:t>
            </a:r>
          </a:p>
          <a:p xmlns:a="http://schemas.openxmlformats.org/drawingml/2006/main">
            <a:r>
              <a:t>精确残差为 0.150633 ns。该数值来自模拟 truth 对账，不能解释为真机测量精度。恢复前必须确认设备与 pending 同步。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3f0547d5c4e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b99e8f8bc74f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4d5e91d92740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d211db3b8e4a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1a1bca2254c1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8dc5421c343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415805-B112-40EC-8962-16CE20076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A5A5F1-695C-4935-B498-DFA00FC85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40438F2-2DCE-4748-A80A-AE747C2A8E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32AFA7-8CF3-4C4F-965E-AC16F8A26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E8AD14-E267-4CA3-A741-2C55629F06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5BD25C-C624-4A43-B3B6-BDC8D6893D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0EC819-0108-4A90-9EC5-2773249137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B50C36E-8C7C-4C27-BDFD-E7C1BCB04CD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FB5247-103C-4FA9-A235-A757B4405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F6A126-D684-42BD-8CBC-C8FAD85B22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7931bd5b93432b" /><Relationship Type="http://schemas.openxmlformats.org/officeDocument/2006/relationships/slideLayout" Target="/ppt/slideLayouts/slideLayout1.xml" Id="R432014c080ff43ef" /><Relationship Type="http://schemas.openxmlformats.org/officeDocument/2006/relationships/slideLayout" Target="/ppt/slideLayouts/slideLayout2.xml" Id="Rec943241b11d4fd5" /><Relationship Type="http://schemas.openxmlformats.org/officeDocument/2006/relationships/slideLayout" Target="/ppt/slideLayouts/slideLayout3.xml" Id="Rc8e038444e8e49e2" /><Relationship Type="http://schemas.openxmlformats.org/officeDocument/2006/relationships/slideLayout" Target="/ppt/slideLayouts/slideLayout4.xml" Id="Rad19550d5e0c4ccf" /><Relationship Type="http://schemas.openxmlformats.org/officeDocument/2006/relationships/slideLayout" Target="/ppt/slideLayouts/slideLayout5.xml" Id="R387ae8240e264b62" /><Relationship Type="http://schemas.openxmlformats.org/officeDocument/2006/relationships/slideLayout" Target="/ppt/slideLayouts/slideLayout6.xml" Id="Re4d472a01a894e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2014c080ff43ef"/>
    <p:sldLayoutId xmlns:r="http://schemas.openxmlformats.org/officeDocument/2006/relationships" id="2147483650" r:id="Rec943241b11d4fd5"/>
    <p:sldLayoutId xmlns:r="http://schemas.openxmlformats.org/officeDocument/2006/relationships" id="2147483651" r:id="Rc8e038444e8e49e2"/>
    <p:sldLayoutId xmlns:r="http://schemas.openxmlformats.org/officeDocument/2006/relationships" id="2147483652" r:id="Rad19550d5e0c4ccf"/>
    <p:sldLayoutId xmlns:r="http://schemas.openxmlformats.org/officeDocument/2006/relationships" id="2147483653" r:id="R387ae8240e264b62"/>
    <p:sldLayoutId xmlns:r="http://schemas.openxmlformats.org/officeDocument/2006/relationships" id="2147483654" r:id="Re4d472a01a894e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615283f5b64e0f" /><Relationship Type="http://schemas.openxmlformats.org/officeDocument/2006/relationships/notesSlide" Target="/ppt/notesSlides/notesSlide1.xml" Id="R4f8263c0717943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b208a8cbe475e" /><Relationship Type="http://schemas.openxmlformats.org/officeDocument/2006/relationships/notesSlide" Target="/ppt/notesSlides/notesSlide2.xml" Id="R216cea885ae148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ecfd0bd1a4fad" /><Relationship Type="http://schemas.openxmlformats.org/officeDocument/2006/relationships/notesSlide" Target="/ppt/notesSlides/notesSlide3.xml" Id="R3438ab9c559743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c4ae7f10d4f69" /><Relationship Type="http://schemas.openxmlformats.org/officeDocument/2006/relationships/notesSlide" Target="/ppt/notesSlides/notesSlide4.xml" Id="R9c6a2939924845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78f71a4b754116" /><Relationship Type="http://schemas.openxmlformats.org/officeDocument/2006/relationships/image" Target="/ppt/media/image.png" Id="R07ab496593424ee8" /><Relationship Type="http://schemas.openxmlformats.org/officeDocument/2006/relationships/hyperlink" Target="demo-animation-parallel.html" TargetMode="External" Id="Re04ac76fdb4147e7" /><Relationship Type="http://schemas.openxmlformats.org/officeDocument/2006/relationships/notesSlide" Target="/ppt/notesSlides/notesSlide5.xml" Id="R783ab12cdcca4d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d7caf5749b4c69" /><Relationship Type="http://schemas.openxmlformats.org/officeDocument/2006/relationships/notesSlide" Target="/ppt/notesSlides/notesSlide6.xml" Id="R4492cbf5ed524f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XtrlTimingCali">
            <a:extLst xmlns:a="http://schemas.openxmlformats.org/drawingml/2006/main">
              <a:ext uri="{FF2B5EF4-FFF2-40B4-BE49-F238E27FC236}">
                <a16:creationId xmlns:a16="http://schemas.microsoft.com/office/drawing/2014/main" id="{0CCA7221-B17B-48CF-B6BD-E30C4166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QXtrlTimingCali</a:t>
            </a:r>
          </a:p>
        </p:txBody>
      </p:sp>
      <p:sp>
        <p:nvSpPr>
          <p:cNvPr id="2" name="超导量子比特 Timing 校准系统">
            <a:extLst xmlns:a="http://schemas.openxmlformats.org/drawingml/2006/main">
              <a:ext uri="{FF2B5EF4-FFF2-40B4-BE49-F238E27FC236}">
                <a16:creationId xmlns:a16="http://schemas.microsoft.com/office/drawing/2014/main" id="{94BD6851-BD2A-4CFE-B456-ECC7A823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超导量子比特 Timing 校准系统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850E3A95-E7EB-4281-8B97-ECED5FED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测相对时序&#10;统一求解逐线位移">
            <a:extLst xmlns:a="http://schemas.openxmlformats.org/drawingml/2006/main">
              <a:ext uri="{FF2B5EF4-FFF2-40B4-BE49-F238E27FC236}">
                <a16:creationId xmlns:a16="http://schemas.microsoft.com/office/drawing/2014/main" id="{4CC72727-65AE-4F14-B15D-02AF8023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测相对时序</a:t>
            </a:r>
          </a:p>
          <a:p xmlns:a="http://schemas.openxmlformats.org/drawingml/2006/main">
            <a:pPr>
              <a:def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统一求解逐线位移</a:t>
            </a:r>
          </a:p>
        </p:txBody>
      </p:sp>
      <p:sp>
        <p:nvSpPr>
          <p:cNvPr id="5" name="q = L + d">
            <a:extLst xmlns:a="http://schemas.openxmlformats.org/drawingml/2006/main">
              <a:ext uri="{FF2B5EF4-FFF2-40B4-BE49-F238E27FC236}">
                <a16:creationId xmlns:a16="http://schemas.microsoft.com/office/drawing/2014/main" id="{FB5810CA-8630-49D8-A913-C68ACAF7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q = L + d</a:t>
            </a:r>
          </a:p>
        </p:txBody>
      </p:sp>
      <p:sp>
        <p:nvSpPr>
          <p:cNvPr id="6" name="L：隐藏物理延时&#10;d：累计校准位移">
            <a:extLst xmlns:a="http://schemas.openxmlformats.org/drawingml/2006/main">
              <a:ext uri="{FF2B5EF4-FFF2-40B4-BE49-F238E27FC236}">
                <a16:creationId xmlns:a16="http://schemas.microsoft.com/office/drawing/2014/main" id="{BC133203-6440-4B66-87E2-C8E12FD6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86125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L：隐藏物理延时</a:t>
            </a:r>
          </a:p>
          <a:p xmlns:a="http://schemas.openxmlformats.org/drawingml/2006/main">
            <a:pPr>
              <a:def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d：累计校准位移</a:t>
            </a:r>
          </a:p>
        </p:txBody>
      </p:sp>
      <p:sp>
        <p:nvSpPr>
          <p:cNvPr id="7" name="外部执行方完成实验&#10;本系统申请测量、筛选结果并守">
            <a:extLst xmlns:a="http://schemas.openxmlformats.org/drawingml/2006/main">
              <a:ext uri="{FF2B5EF4-FFF2-40B4-BE49-F238E27FC236}">
                <a16:creationId xmlns:a16="http://schemas.microsoft.com/office/drawing/2014/main" id="{3634E94C-3767-41ED-9A9D-EC96B40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外部执行方完成实验</a:t>
            </a:r>
          </a:p>
          <a:p xmlns:a="http://schemas.openxmlformats.org/drawingml/2006/main">
            <a:pPr>
              <a:def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本系统申请测量、筛选结果并守卫式回写</a:t>
            </a:r>
          </a:p>
        </p:txBody>
      </p:sp>
      <p:sp>
        <p:nvSpPr>
          <p:cNvPr id="8" name="当前 Phase-2    Python ≥ 3">
            <a:extLst xmlns:a="http://schemas.openxmlformats.org/drawingml/2006/main">
              <a:ext uri="{FF2B5EF4-FFF2-40B4-BE49-F238E27FC236}">
                <a16:creationId xmlns:a16="http://schemas.microsoft.com/office/drawing/2014/main" id="{BD725A9E-C593-4BA6-BF28-75D66385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当前 Phase-2    Python ≥ 3.10    运行时零第三方依赖</a:t>
            </a:r>
          </a:p>
        </p:txBody>
      </p:sp>
    </p:spTree>
    <p:extLst>
      <p:ext uri="{BB962C8B-B14F-4D97-AF65-F5344CB8AC3E}">
        <p14:creationId xmlns:p14="http://schemas.microsoft.com/office/powerpoint/2010/main" val="1404800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模块分工">
            <a:extLst xmlns:a="http://schemas.openxmlformats.org/drawingml/2006/main">
              <a:ext uri="{FF2B5EF4-FFF2-40B4-BE49-F238E27FC236}">
                <a16:creationId xmlns:a16="http://schemas.microsoft.com/office/drawing/2014/main" id="{8A8BFFA8-D363-4750-AB20-F69AA47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模块分工</a:t>
            </a:r>
          </a:p>
        </p:txBody>
      </p:sp>
      <p:sp>
        <p:nvSpPr>
          <p:cNvPr id="2" name="两套编排器共用一套校准内核">
            <a:extLst xmlns:a="http://schemas.openxmlformats.org/drawingml/2006/main">
              <a:ext uri="{FF2B5EF4-FFF2-40B4-BE49-F238E27FC236}">
                <a16:creationId xmlns:a16="http://schemas.microsoft.com/office/drawing/2014/main" id="{BBD08EBB-BD4C-4F7F-AE60-BDAFD3AD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两套编排器共用一套校准内核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2519908D-8797-4C3A-B60C-6E4DDDA2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B7637-E86C-4494-84F0-F054F92FF775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714750"/>
                <a:gridCol w="51054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主要职责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配置与静态工具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chip_gen / wiring_gen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visualize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 JSON 配置、交叉校验与可视化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流程编排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pipeline / stages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安排测量边、阶段依赖和写回时机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共用校准内核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 包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契约、策略、测量台账、选边、求解与守卫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执行方边界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ExecutorAdapter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DirectExecutor / FileQueue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提交实验、返回结果、同步设备状态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共用入口：最大分量求解、替补重连、数值验收后提交">
            <a:extLst xmlns:a="http://schemas.openxmlformats.org/drawingml/2006/main">
              <a:ext uri="{FF2B5EF4-FFF2-40B4-BE49-F238E27FC236}">
                <a16:creationId xmlns:a16="http://schemas.microsoft.com/office/drawing/2014/main" id="{C8F736EA-6605-4512-9050-BADF407F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共用入口：最大分量求解、替补重连、数值验收后提交</a:t>
            </a:r>
          </a:p>
        </p:txBody>
      </p:sp>
    </p:spTree>
    <p:extLst>
      <p:ext uri="{BB962C8B-B14F-4D97-AF65-F5344CB8AC3E}">
        <p14:creationId xmlns:p14="http://schemas.microsoft.com/office/powerpoint/2010/main" val="1516561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四组六步校准">
            <a:extLst xmlns:a="http://schemas.openxmlformats.org/drawingml/2006/main">
              <a:ext uri="{FF2B5EF4-FFF2-40B4-BE49-F238E27FC236}">
                <a16:creationId xmlns:a16="http://schemas.microsoft.com/office/drawing/2014/main" id="{EA045CE1-650C-437A-BC85-52F65B0F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四组六步校准</a:t>
            </a:r>
          </a:p>
        </p:txBody>
      </p:sp>
      <p:sp>
        <p:nvSpPr>
          <p:cNvPr id="2" name="实验顺序由读取基准和共同测量基线决定">
            <a:extLst xmlns:a="http://schemas.openxmlformats.org/drawingml/2006/main">
              <a:ext uri="{FF2B5EF4-FFF2-40B4-BE49-F238E27FC236}">
                <a16:creationId xmlns:a16="http://schemas.microsoft.com/office/drawing/2014/main" id="{0783F39E-D180-4209-940C-5978D5C4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实验顺序由读取基准和共同测量基线决定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7FCBAF29-C3C5-4B68-B28E-C096B5CE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55331-39B0-4047-BE8D-1A8838B4B3A2}"/>
              </a:ext>
            </a:extLst>
          </p:cNvPr>
          <p:cNvGraphicFramePr/>
          <p:nvPr/>
        </p:nvGraphicFramePr>
        <p:xfrm>
          <a:off xmlns:a="http://schemas.openxmlformats.org/drawingml/2006/main" x="685800" y="18383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"/>
                <a:gridCol w="2095500"/>
                <a:gridCol w="6057900"/>
                <a:gridCol w="18097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/ 动作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文件写回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 ro 与 ri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授予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读取线整体右移，记录授予余额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单比特组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 XY 与 Z 的相对时序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测量跨比特与耦合器的相对时序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仅记录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合并步骤 3、4 的观测，整批求解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整批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读取线收尾组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连接读取与比特基准，按余额收回 headroom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即时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步骤 3、4 保持同一 config_hash，">
            <a:extLst xmlns:a="http://schemas.openxmlformats.org/drawingml/2006/main">
              <a:ext uri="{FF2B5EF4-FFF2-40B4-BE49-F238E27FC236}">
                <a16:creationId xmlns:a16="http://schemas.microsoft.com/office/drawing/2014/main" id="{3E0843D9-2338-4446-8C46-B04F459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步骤 3、4 保持同一 config_hash，写回后旧观测失效</a:t>
            </a:r>
          </a:p>
        </p:txBody>
      </p:sp>
    </p:spTree>
    <p:extLst>
      <p:ext uri="{BB962C8B-B14F-4D97-AF65-F5344CB8AC3E}">
        <p14:creationId xmlns:p14="http://schemas.microsoft.com/office/powerpoint/2010/main" val="158323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数值验收与回写守卫">
            <a:extLst xmlns:a="http://schemas.openxmlformats.org/drawingml/2006/main">
              <a:ext uri="{FF2B5EF4-FFF2-40B4-BE49-F238E27FC236}">
                <a16:creationId xmlns:a16="http://schemas.microsoft.com/office/drawing/2014/main" id="{0F560EF1-43B6-4069-B537-3CA17251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数值验收与回写守卫</a:t>
            </a:r>
          </a:p>
        </p:txBody>
      </p:sp>
      <p:sp>
        <p:nvSpPr>
          <p:cNvPr id="2" name="未收敛的解禁止推进文件、会话和设备">
            <a:extLst xmlns:a="http://schemas.openxmlformats.org/drawingml/2006/main">
              <a:ext uri="{FF2B5EF4-FFF2-40B4-BE49-F238E27FC236}">
                <a16:creationId xmlns:a16="http://schemas.microsoft.com/office/drawing/2014/main" id="{B79ABD9E-A6A9-4411-903D-3BD330EC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未收敛的解禁止推进文件、会话和设备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45EF94C5-E3F1-41F4-B59A-5B4EE55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5A49A-4CD6-420D-8012-C8F8EFDC6E28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70485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42925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守卫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检查内容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pending 指纹与申请基线一致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单调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校准位移非负，收回量不超授予余额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每线累计延时不超过 d_max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原子写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同目录临时文件替换，保留备份和审计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输入先校验">
            <a:extLst xmlns:a="http://schemas.openxmlformats.org/drawingml/2006/main">
              <a:ext uri="{FF2B5EF4-FFF2-40B4-BE49-F238E27FC236}">
                <a16:creationId xmlns:a16="http://schemas.microsoft.com/office/drawing/2014/main" id="{801EB629-FB40-4300-BAC2-A63B033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输入先校验</a:t>
            </a:r>
          </a:p>
        </p:txBody>
      </p:sp>
      <p:sp>
        <p:nvSpPr>
          <p:cNvPr id="6" name="拒收 NaN、Inf&#10;拒收非法 σ 与评分">
            <a:extLst xmlns:a="http://schemas.openxmlformats.org/drawingml/2006/main">
              <a:ext uri="{FF2B5EF4-FFF2-40B4-BE49-F238E27FC236}">
                <a16:creationId xmlns:a16="http://schemas.microsoft.com/office/drawing/2014/main" id="{280F05E6-F2DC-454F-9AF1-9C9012B6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2861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 NaN、Inf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拒收非法 σ 与评分</a:t>
            </a:r>
          </a:p>
        </p:txBody>
      </p:sp>
      <p:sp>
        <p:nvSpPr>
          <p:cNvPr id="7" name="会话完整验收后更新">
            <a:extLst xmlns:a="http://schemas.openxmlformats.org/drawingml/2006/main">
              <a:ext uri="{FF2B5EF4-FFF2-40B4-BE49-F238E27FC236}">
                <a16:creationId xmlns:a16="http://schemas.microsoft.com/office/drawing/2014/main" id="{D8CE88F7-5BBC-476E-851D-1D702512F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9575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会话完整验收后更新</a:t>
            </a:r>
          </a:p>
        </p:txBody>
      </p:sp>
      <p:sp>
        <p:nvSpPr>
          <p:cNvPr id="8" name="守卫拒绝时 pending 保持原样，审计记录原">
            <a:extLst xmlns:a="http://schemas.openxmlformats.org/drawingml/2006/main">
              <a:ext uri="{FF2B5EF4-FFF2-40B4-BE49-F238E27FC236}">
                <a16:creationId xmlns:a16="http://schemas.microsoft.com/office/drawing/2014/main" id="{2340714A-FC7A-4CE1-B33A-27AD93D3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守卫拒绝时 pending 保持原样，审计记录原因</a:t>
            </a:r>
          </a:p>
        </p:txBody>
      </p:sp>
    </p:spTree>
    <p:extLst>
      <p:ext uri="{BB962C8B-B14F-4D97-AF65-F5344CB8AC3E}">
        <p14:creationId xmlns:p14="http://schemas.microsoft.com/office/powerpoint/2010/main" val="29881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并行示例：网格、冲突波与提交束">
            <a:extLst xmlns:a="http://schemas.openxmlformats.org/drawingml/2006/main">
              <a:ext uri="{FF2B5EF4-FFF2-40B4-BE49-F238E27FC236}">
                <a16:creationId xmlns:a16="http://schemas.microsoft.com/office/drawing/2014/main" id="{D287359D-971A-4786-80A6-028A780F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并行示例：网格、冲突波与提交束</a:t>
            </a:r>
          </a:p>
        </p:txBody>
      </p:sp>
      <p:sp>
        <p:nvSpPr>
          <p:cNvPr id="2" name="4×4 最近邻网格 · 24 个耦合器 · 64">
            <a:extLst xmlns:a="http://schemas.openxmlformats.org/drawingml/2006/main">
              <a:ext uri="{FF2B5EF4-FFF2-40B4-BE49-F238E27FC236}">
                <a16:creationId xmlns:a16="http://schemas.microsoft.com/office/drawing/2014/main" id="{F864EDD5-96A9-4443-A972-C03864B0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4×4 最近邻网格 · 24 个耦合器 · 64 条信号线 · 每束最多 4 条测量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ACDB04CB-E4CF-4776-939D-A49964D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695A1-0C5D-414D-8492-902D9C5C42CD}"/>
              </a:ext>
            </a:extLst>
          </p:cNvPr>
          <p:cNvGraphicFramePr/>
          <p:nvPr/>
        </p:nvGraphicFramePr>
        <p:xfrm>
          <a:off xmlns:a="http://schemas.openxmlformats.org/drawingml/2006/main" x="685800" y="1990725"/>
          <a:ext xmlns:a="http://schemas.openxmlformats.org/drawingml/2006/main" cx="6286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333500"/>
                <a:gridCol w="1333500"/>
                <a:gridCol w="13335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实验组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冲突波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提交束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单比特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耦合器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读取线收尾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6254D-02CA-4728-B299-22D5CA5262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b496593424ee8"/>
          <a:stretch xmlns:a="http://schemas.openxmlformats.org/drawingml/2006/main"/>
        </p:blipFill>
        <p:spPr>
          <a:xfrm xmlns:a="http://schemas.openxmlformats.org/drawingml/2006/main">
            <a:off x="7758616" y="1838325"/>
            <a:ext cx="3342268" cy="3162300"/>
          </a:xfrm>
          <a:prstGeom xmlns:a="http://schemas.openxmlformats.org/drawingml/2006/main" prst="rect">
            <a:avLst/>
          </a:prstGeom>
        </p:spPr>
      </p:pic>
      <p:sp>
        <p:nvSpPr>
          <p:cNvPr id="6" name="3.5× 理论比值（63 / 18）">
            <a:extLst xmlns:a="http://schemas.openxmlformats.org/drawingml/2006/main">
              <a:ext uri="{FF2B5EF4-FFF2-40B4-BE49-F238E27FC236}">
                <a16:creationId xmlns:a16="http://schemas.microsoft.com/office/drawing/2014/main" id="{B1804C12-EDB5-4520-846A-E83B68D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3.5× 理论比值（63 / 18）</a:t>
            </a:r>
          </a:p>
        </p:txBody>
      </p:sp>
      <p:sp>
        <p:nvSpPr>
          <p:cNvPr id="7" name="最小生成树选边；共享线名则分波">
            <a:extLst xmlns:a="http://schemas.openxmlformats.org/drawingml/2006/main">
              <a:ext uri="{FF2B5EF4-FFF2-40B4-BE49-F238E27FC236}">
                <a16:creationId xmlns:a16="http://schemas.microsoft.com/office/drawing/2014/main" id="{AC27EACA-BA0F-4941-99CC-E29796AA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最小生成树选边；共享线名则分波</a:t>
            </a:r>
          </a:p>
        </p:txBody>
      </p:sp>
      <p:sp>
        <p:nvSpPr>
          <p:cNvPr id="8" name="打开交互演示 ↗">
            <a:extLst xmlns:a="http://schemas.openxmlformats.org/drawingml/2006/main">
              <a:ext uri="{FF2B5EF4-FFF2-40B4-BE49-F238E27FC236}">
                <a16:creationId xmlns:a16="http://schemas.microsoft.com/office/drawing/2014/main" id="{1D3DCAF6-EA14-40D6-9C0C-F7D6616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19700"/>
            <a:ext cx="352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4ac76fdb4147e7"/>
              </a:rPr>
              <a:t>打开交互演示 ↗</a:t>
            </a:r>
          </a:p>
        </p:txBody>
      </p:sp>
      <p:sp>
        <p:nvSpPr>
          <p:cNvPr id="9" name="等时、束内完全并发且忽略开销；非实测提速">
            <a:extLst xmlns:a="http://schemas.openxmlformats.org/drawingml/2006/main">
              <a:ext uri="{FF2B5EF4-FFF2-40B4-BE49-F238E27FC236}">
                <a16:creationId xmlns:a16="http://schemas.microsoft.com/office/drawing/2014/main" id="{CCF010CE-3C14-4621-BBC2-FDAEACD4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等时、束内完全并发且忽略开销；非实测提速</a:t>
            </a:r>
          </a:p>
        </p:txBody>
      </p:sp>
      <p:sp>
        <p:nvSpPr>
          <p:cNvPr id="10" name="点击波次 · 本波结束暂停">
            <a:extLst xmlns:a="http://schemas.openxmlformats.org/drawingml/2006/main">
              <a:ext uri="{FF2B5EF4-FFF2-40B4-BE49-F238E27FC236}">
                <a16:creationId xmlns:a16="http://schemas.microsoft.com/office/drawing/2014/main" id="{EE3E927A-817A-4F21-9082-2ED286E6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00725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点击波次 · 本波结束暂停</a:t>
            </a:r>
          </a:p>
        </p:txBody>
      </p:sp>
    </p:spTree>
    <p:extLst>
      <p:ext uri="{BB962C8B-B14F-4D97-AF65-F5344CB8AC3E}">
        <p14:creationId xmlns:p14="http://schemas.microsoft.com/office/powerpoint/2010/main" val="8018858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当前能力与边界">
            <a:extLst xmlns:a="http://schemas.openxmlformats.org/drawingml/2006/main">
              <a:ext uri="{FF2B5EF4-FFF2-40B4-BE49-F238E27FC236}">
                <a16:creationId xmlns:a16="http://schemas.microsoft.com/office/drawing/2014/main" id="{F60874DC-9051-4791-964C-7973C590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62A43"/>
                </a:solidFill>
                <a:latin typeface="Microsoft YaHei"/>
                <a:ea typeface="Microsoft YaHei"/>
                <a:cs typeface="Microsoft YaHei"/>
              </a:rPr>
              <a:t>当前能力与边界</a:t>
            </a:r>
          </a:p>
        </p:txBody>
      </p:sp>
      <p:sp>
        <p:nvSpPr>
          <p:cNvPr id="2" name="当前能力集中在模拟校准与可复现的流程验证">
            <a:extLst xmlns:a="http://schemas.openxmlformats.org/drawingml/2006/main">
              <a:ext uri="{FF2B5EF4-FFF2-40B4-BE49-F238E27FC236}">
                <a16:creationId xmlns:a16="http://schemas.microsoft.com/office/drawing/2014/main" id="{466C31DE-1186-4DED-A6B2-6D3B2083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当前能力集中在模拟校准与可复现的流程验证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E64118AF-C9DB-479A-969B-04FBFF56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97009-2D04-43B5-8AC1-D4DBE52F1093}"/>
              </a:ext>
            </a:extLst>
          </p:cNvPr>
          <p:cNvGraphicFramePr/>
          <p:nvPr/>
        </p:nvGraphicFramePr>
        <p:xfrm>
          <a:off xmlns:a="http://schemas.openxmlformats.org/drawingml/2006/main" x="685800" y="19812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772150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已实现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当前边界</a:t>
                      </a:r>
                    </a:p>
                  </a:txBody>
                  <a:tcPr marL="133350" marR="133350" marT="114300" marB="95250" anchor="ctr">
                    <a:solidFill>
                      <a:srgbClr val="162A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生成、校验、模拟与四组六步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真实阈值仍为占位值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质量筛选、全局求解与守卫回写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 truth 时，aligned 仅表示流程判据通过</a:t>
                      </a:r>
                    </a:p>
                  </a:txBody>
                  <a:tcPr marL="133350" marR="133350" marT="114300" marB="95250" anchor="ctr">
                    <a:solidFill>
                      <a:srgbClr val="EEF3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测量日志、按组驱动与提交束接口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16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文件、设备与阶段日志尚未实现原子提交</a:t>
                      </a:r>
                    </a:p>
                  </a:txBody>
                  <a:tcPr marL="133350" marR="13335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0.151 ns">
            <a:extLst xmlns:a="http://schemas.openxmlformats.org/drawingml/2006/main">
              <a:ext uri="{FF2B5EF4-FFF2-40B4-BE49-F238E27FC236}">
                <a16:creationId xmlns:a16="http://schemas.microsoft.com/office/drawing/2014/main" id="{42CECEEF-E251-41E8-A851-2618C253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857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2563A5"/>
                </a:solidFill>
                <a:latin typeface="Microsoft YaHei"/>
                <a:ea typeface="Microsoft YaHei"/>
                <a:cs typeface="Microsoft YaHei"/>
              </a:rPr>
              <a:t>0.151 ns</a:t>
            </a:r>
          </a:p>
        </p:txBody>
      </p:sp>
      <p:sp>
        <p:nvSpPr>
          <p:cNvPr id="6" name="并行示例的模拟对账残差&#10;低于当前 0.5 ns ">
            <a:extLst xmlns:a="http://schemas.openxmlformats.org/drawingml/2006/main">
              <a:ext uri="{FF2B5EF4-FFF2-40B4-BE49-F238E27FC236}">
                <a16:creationId xmlns:a16="http://schemas.microsoft.com/office/drawing/2014/main" id="{9C728FFF-90D4-48DE-90EB-A256E36A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72100"/>
            <a:ext cx="676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并行示例的模拟对账残差</a:t>
            </a:r>
          </a:p>
          <a:p xmlns:a="http://schemas.openxmlformats.org/drawingml/2006/main">
            <a:pPr>
              <a:def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16175"/>
                </a:solidFill>
                <a:latin typeface="Microsoft YaHei"/>
                <a:ea typeface="Microsoft YaHei"/>
                <a:cs typeface="Microsoft YaHei"/>
              </a:rPr>
              <a:t>低于当前 0.5 ns 容差</a:t>
            </a:r>
          </a:p>
        </p:txBody>
      </p:sp>
    </p:spTree>
    <p:extLst>
      <p:ext uri="{BB962C8B-B14F-4D97-AF65-F5344CB8AC3E}">
        <p14:creationId xmlns:p14="http://schemas.microsoft.com/office/powerpoint/2010/main" val="143825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2026-10-08T09:13:23.2950000Z</dcterms:created>
  <dcterms:modified xsi:type="dcterms:W3CDTF">2026-10-08T09:13:23.2950000Z</dcterms:modified>
</coreProperties>
</file>