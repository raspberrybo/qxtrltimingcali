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0a4ba17c694f2d" /><Relationship Type="http://schemas.openxmlformats.org/officeDocument/2006/relationships/extended-properties" Target="/docProps/app.xml" Id="R722a9584ae23430f" /><Relationship Type="http://schemas.openxmlformats.org/officeDocument/2006/relationships/officeDocument" Target="/ppt/presentation.xml" Id="R3bb0760cdd4947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9498dd93e945e5"/>
  </p:sldMasterIdLst>
  <p:notesMasterIdLst>
    <p:notesMasterId xmlns:r="http://schemas.openxmlformats.org/officeDocument/2006/relationships" r:id="R0f04f55bb0c7434e"/>
  </p:notesMasterIdLst>
  <p:sldIdLst>
    <p:sldId xmlns:r="http://schemas.openxmlformats.org/officeDocument/2006/relationships" id="256" r:id="Rf83a5b9aa1374534"/>
    <p:sldId xmlns:r="http://schemas.openxmlformats.org/officeDocument/2006/relationships" id="257" r:id="Rff02684c29c24544"/>
    <p:sldId xmlns:r="http://schemas.openxmlformats.org/officeDocument/2006/relationships" id="258" r:id="R14885e78eccf4373"/>
    <p:sldId xmlns:r="http://schemas.openxmlformats.org/officeDocument/2006/relationships" id="259" r:id="R7a5ffaca9f1d43c9"/>
    <p:sldId xmlns:r="http://schemas.openxmlformats.org/officeDocument/2006/relationships" id="260" r:id="R6d5279a91f994e83"/>
    <p:sldId xmlns:r="http://schemas.openxmlformats.org/officeDocument/2006/relationships" id="261" r:id="Recb0c70ec69045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24acdc22474ca8" /><Relationship Type="http://schemas.openxmlformats.org/officeDocument/2006/relationships/slideMaster" Target="/ppt/slideMasters/slideMaster1.xml" Id="R289498dd93e945e5" /><Relationship Type="http://schemas.openxmlformats.org/officeDocument/2006/relationships/notesMaster" Target="/ppt/notesMasters/notesMaster1.xml" Id="R0f04f55bb0c7434e" /><Relationship Type="http://schemas.openxmlformats.org/officeDocument/2006/relationships/presProps" Target="/ppt/presProps.xml" Id="Rfa47307d9aee4a53" /><Relationship Type="http://schemas.openxmlformats.org/officeDocument/2006/relationships/tableStyles" Target="/ppt/tableStyles.xml" Id="R05fcac586ac54a2b" /><Relationship Type="http://schemas.openxmlformats.org/officeDocument/2006/relationships/slide" Target="/ppt/slides/slide1.xml" Id="Rf83a5b9aa1374534" /><Relationship Type="http://schemas.openxmlformats.org/officeDocument/2006/relationships/slide" Target="/ppt/slides/slide2.xml" Id="Rff02684c29c24544" /><Relationship Type="http://schemas.openxmlformats.org/officeDocument/2006/relationships/slide" Target="/ppt/slides/slide3.xml" Id="R14885e78eccf4373" /><Relationship Type="http://schemas.openxmlformats.org/officeDocument/2006/relationships/slide" Target="/ppt/slides/slide4.xml" Id="R7a5ffaca9f1d43c9" /><Relationship Type="http://schemas.openxmlformats.org/officeDocument/2006/relationships/slide" Target="/ppt/slides/slide5.xml" Id="R6d5279a91f994e83" /><Relationship Type="http://schemas.openxmlformats.org/officeDocument/2006/relationships/slide" Target="/ppt/slides/slide6.xml" Id="Recb0c70ec69045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001abe885845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ad979db0c0491a" /><Relationship Type="http://schemas.openxmlformats.org/officeDocument/2006/relationships/notesMaster" Target="/ppt/notesMasters/notesMaster1.xml" Id="R822b0101216b42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e08af3dc24402a" /><Relationship Type="http://schemas.openxmlformats.org/officeDocument/2006/relationships/notesMaster" Target="/ppt/notesMasters/notesMaster1.xml" Id="Rf519f0e1377f4b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ad10a014e2479d" /><Relationship Type="http://schemas.openxmlformats.org/officeDocument/2006/relationships/notesMaster" Target="/ppt/notesMasters/notesMaster1.xml" Id="R821ded38a4c94e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617d6bbae64c2c" /><Relationship Type="http://schemas.openxmlformats.org/officeDocument/2006/relationships/notesMaster" Target="/ppt/notesMasters/notesMaster1.xml" Id="Rb7db7dd3562a46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0ab425b2e24216" /><Relationship Type="http://schemas.openxmlformats.org/officeDocument/2006/relationships/notesMaster" Target="/ppt/notesMasters/notesMaster1.xml" Id="R6ce82e3c589742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6bf0cd30894b03" /><Relationship Type="http://schemas.openxmlformats.org/officeDocument/2006/relationships/notesMaster" Target="/ppt/notesMasters/notesMaster1.xml" Id="R4a698e7c59cd44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C:\Users\xl\Documents\XGM\Codes\QXtrlTimingCali\README.md</a:t>
            </a:r>
          </a:p>
          <a:p xmlns:a="http://schemas.openxmlformats.org/drawingml/2006/main">
            <a:r>
              <a:t>C:\Users\xl\Documents\XGM\Codes\QXtrlTimingCali\qxtrl_timing_cali\review\contracts.py</a:t>
            </a:r>
          </a:p>
          <a:p xmlns:a="http://schemas.openxmlformats.org/drawingml/2006/main">
            <a:r>
              <a:t>C:\Users\xl\Documents\XGM\Codes\QXtrlTimingCali\pyproject.toml</a:t>
            </a:r>
          </a:p>
          <a:p xmlns:a="http://schemas.openxmlformats.org/drawingml/2006/main">
            <a:r>
              <a:t>包版本 v0.4.1。架构说明修订 v0.3.3。符号约定：skew = q(new) − q(ref)。校准位移仅右移，headroom_return 是授予余额约束下的例外。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C:\Users\xl\Documents\XGM\Codes\QXtrlTimingCali\docs\gen_architecture.py</a:t>
            </a:r>
          </a:p>
          <a:p xmlns:a="http://schemas.openxmlformats.org/drawingml/2006/main">
            <a:r>
              <a:t>C:\Users\xl\Documents\XGM\Codes\QXtrlTimingCali\qxtrl_timing_cali\review\center.py</a:t>
            </a:r>
          </a:p>
          <a:p xmlns:a="http://schemas.openxmlformats.org/drawingml/2006/main">
            <a:r>
              <a:t>C:\Users\xl\Documents\XGM\Codes\QXtrlTimingCali\qxtrl_timing_cali\review\ledger.py</a:t>
            </a:r>
          </a:p>
          <a:p xmlns:a="http://schemas.openxmlformats.org/drawingml/2006/main">
            <a:r>
              <a:t>C:\Users\xl\Documents\XGM\Codes\QXtrlTimingCali\qxtrl_timing_cali\review\solver.py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C:\Users\xl\Documents\XGM\Codes\QXtrlTimingCali\README.md</a:t>
            </a:r>
          </a:p>
          <a:p xmlns:a="http://schemas.openxmlformats.org/drawingml/2006/main">
            <a:r>
              <a:t>C:\Users\xl\Documents\XGM\Codes\QXtrlTimingCali\qxtrl_timing_cali\stages.py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C:\Users\xl\Documents\XGM\Codes\QXtrlTimingCali\qxtrl_timing_cali\review\center.py</a:t>
            </a:r>
          </a:p>
          <a:p xmlns:a="http://schemas.openxmlformats.org/drawingml/2006/main">
            <a:r>
              <a:t>C:\Users\xl\Documents\XGM\Codes\QXtrlTimingCali\qxtrl_timing_cali\review\solver.py</a:t>
            </a:r>
          </a:p>
          <a:p xmlns:a="http://schemas.openxmlformats.org/drawingml/2006/main">
            <a:r>
              <a:t>C:\Users\xl\Documents\XGM\Codes\QXtrlTimingCali\qxtrl_timing_cali\review\writeback.py</a:t>
            </a:r>
          </a:p>
          <a:p xmlns:a="http://schemas.openxmlformats.org/drawingml/2006/main">
            <a:r>
              <a:t>C:\Users\xl\Documents\XGM\Codes\QXtrlTimingCali\qxtrl_timing_cali\review\session.py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C:\Users\xl\Documents\XGM\Codes\QXtrlTimingCali\docs\parallel-data.json</a:t>
            </a:r>
          </a:p>
          <a:p xmlns:a="http://schemas.openxmlformats.org/drawingml/2006/main">
            <a:r>
              <a:t>C:\Users\xl\Documents\XGM\Codes\QXtrlTimingCali\qxtrl_timing_cali\review\parallel.py</a:t>
            </a:r>
          </a:p>
          <a:p xmlns:a="http://schemas.openxmlformats.org/drawingml/2006/main">
            <a:r>
              <a:t>C:\Users\xl\Documents\XGM\Codes\QXtrlTimingCali\qxtrl_timing_cali\review\ledger.py</a:t>
            </a:r>
          </a:p>
          <a:p xmlns:a="http://schemas.openxmlformats.org/drawingml/2006/main">
            <a:r>
              <a:t>54/7 = 7.71 是测量边与冲突波的计数比值，不等于实测加速。各组提交束数为 1、4、9、1。动画段宽按边数绘制，表示测量进度，不表示耗时。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C:\Users\xl\Documents\XGM\Codes\QXtrlTimingCali\README.md</a:t>
            </a:r>
          </a:p>
          <a:p xmlns:a="http://schemas.openxmlformats.org/drawingml/2006/main">
            <a:r>
              <a:t>C:\Users\xl\Documents\XGM\Codes\QXtrlTimingCali\docs\gen_architecture.py</a:t>
            </a:r>
          </a:p>
          <a:p xmlns:a="http://schemas.openxmlformats.org/drawingml/2006/main">
            <a:r>
              <a:t>C:\Users\xl\Documents\XGM\Codes\QXtrlTimingCali\docs\parallel-data.json</a:t>
            </a:r>
          </a:p>
          <a:p xmlns:a="http://schemas.openxmlformats.org/drawingml/2006/main">
            <a:r>
              <a:t>C:\Users\xl\Documents\XGM\Codes\QXtrlTimingCali\qxtrl_timing_cali\review\policies.py</a:t>
            </a:r>
          </a:p>
          <a:p xmlns:a="http://schemas.openxmlformats.org/drawingml/2006/main">
            <a:r>
              <a:t>C:\Users\xl\Documents\XGM\Codes\QXtrlTimingCali\tests\test_hardening.py</a:t>
            </a:r>
          </a:p>
          <a:p xmlns:a="http://schemas.openxmlformats.org/drawingml/2006/main">
            <a:r>
              <a:t>精确残差为 0.223936 ns。该数值来自模拟 truth 对账，不能解释为真机测量精度。恢复前必须确认设备与 pending 同步。当前项目测试运行 176 项，1 项跳过，无失败。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00c02810914b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e895d0d7d4d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909219e4d49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06fd21a8540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b9e07323743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4a96b978c044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E53CBF-C339-4485-A6D6-E1D0197410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554289-9511-48CC-80F0-7270407C3D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9459D6-828F-4F57-84B2-4AA7ABF93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EDEF23-E871-4C3A-8CB4-8F9FDEC5F4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DFEB87-73E1-4F57-AD1D-AFFE5378CC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C7A496-D262-4DE0-ADBE-5F602F3DCB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C29645-82E6-4E90-A2B1-A65F3E70A9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75B760-EE68-4742-AFD4-214774DFCA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DCB9B8-35DB-4CF7-9EB8-AABD42F593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3E6AA3-633F-4575-AFFA-AB518CD321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77ef733c9342f1" /><Relationship Type="http://schemas.openxmlformats.org/officeDocument/2006/relationships/slideLayout" Target="/ppt/slideLayouts/slideLayout1.xml" Id="R674ed0fd721a42c4" /><Relationship Type="http://schemas.openxmlformats.org/officeDocument/2006/relationships/slideLayout" Target="/ppt/slideLayouts/slideLayout2.xml" Id="Rde81076b70d041dc" /><Relationship Type="http://schemas.openxmlformats.org/officeDocument/2006/relationships/slideLayout" Target="/ppt/slideLayouts/slideLayout3.xml" Id="R7b8bd6438b734e89" /><Relationship Type="http://schemas.openxmlformats.org/officeDocument/2006/relationships/slideLayout" Target="/ppt/slideLayouts/slideLayout4.xml" Id="R43f3547f82c54e04" /><Relationship Type="http://schemas.openxmlformats.org/officeDocument/2006/relationships/slideLayout" Target="/ppt/slideLayouts/slideLayout5.xml" Id="R27dc886bb80d4b2f" /><Relationship Type="http://schemas.openxmlformats.org/officeDocument/2006/relationships/slideLayout" Target="/ppt/slideLayouts/slideLayout6.xml" Id="R43e7c115226e4c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4ed0fd721a42c4"/>
    <p:sldLayoutId xmlns:r="http://schemas.openxmlformats.org/officeDocument/2006/relationships" id="2147483650" r:id="Rde81076b70d041dc"/>
    <p:sldLayoutId xmlns:r="http://schemas.openxmlformats.org/officeDocument/2006/relationships" id="2147483651" r:id="R7b8bd6438b734e89"/>
    <p:sldLayoutId xmlns:r="http://schemas.openxmlformats.org/officeDocument/2006/relationships" id="2147483652" r:id="R43f3547f82c54e04"/>
    <p:sldLayoutId xmlns:r="http://schemas.openxmlformats.org/officeDocument/2006/relationships" id="2147483653" r:id="R27dc886bb80d4b2f"/>
    <p:sldLayoutId xmlns:r="http://schemas.openxmlformats.org/officeDocument/2006/relationships" id="2147483654" r:id="R43e7c115226e4c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1df8b7edf54820" /><Relationship Type="http://schemas.openxmlformats.org/officeDocument/2006/relationships/notesSlide" Target="/ppt/notesSlides/notesSlide1.xml" Id="Rcd1c253db1b447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dbdb2ca9247b9" /><Relationship Type="http://schemas.openxmlformats.org/officeDocument/2006/relationships/notesSlide" Target="/ppt/notesSlides/notesSlide2.xml" Id="Re7d63af4ba4649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c5e31aeb984642" /><Relationship Type="http://schemas.openxmlformats.org/officeDocument/2006/relationships/notesSlide" Target="/ppt/notesSlides/notesSlide3.xml" Id="R9a95ffa174f84d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4bd98466334374" /><Relationship Type="http://schemas.openxmlformats.org/officeDocument/2006/relationships/notesSlide" Target="/ppt/notesSlides/notesSlide4.xml" Id="R23a78d77f1c149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1fd2ce009e4f15" /><Relationship Type="http://schemas.openxmlformats.org/officeDocument/2006/relationships/notesSlide" Target="/ppt/notesSlides/notesSlide5.xml" Id="R9a51d75a23e64d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a3342a966043ab" /><Relationship Type="http://schemas.openxmlformats.org/officeDocument/2006/relationships/notesSlide" Target="/ppt/notesSlides/notesSlide6.xml" Id="R8072675316794a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QXtrlTimingCali">
            <a:extLst xmlns:a="http://schemas.openxmlformats.org/drawingml/2006/main">
              <a:ext uri="{FF2B5EF4-FFF2-40B4-BE49-F238E27FC236}">
                <a16:creationId xmlns:a16="http://schemas.microsoft.com/office/drawing/2014/main" id="{84942136-2880-4196-9638-79A8495C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QXtrlTimingCali</a:t>
            </a:r>
          </a:p>
        </p:txBody>
      </p:sp>
      <p:sp>
        <p:nvSpPr>
          <p:cNvPr id="2" name="超导量子比特 Timing 校准系统">
            <a:extLst xmlns:a="http://schemas.openxmlformats.org/drawingml/2006/main">
              <a:ext uri="{FF2B5EF4-FFF2-40B4-BE49-F238E27FC236}">
                <a16:creationId xmlns:a16="http://schemas.microsoft.com/office/drawing/2014/main" id="{A2DE4330-7BE1-41F8-A990-422B6662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超导量子比特 Timing 校准系统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4A0B1882-74DC-4992-ABFA-320147EC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测相对时序&#10;统一求解逐线位移">
            <a:extLst xmlns:a="http://schemas.openxmlformats.org/drawingml/2006/main">
              <a:ext uri="{FF2B5EF4-FFF2-40B4-BE49-F238E27FC236}">
                <a16:creationId xmlns:a16="http://schemas.microsoft.com/office/drawing/2014/main" id="{59ADA899-1312-4DB5-9AB5-77E6D897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测相对时序</a:t>
            </a:r>
          </a:p>
          <a:p xmlns:a="http://schemas.openxmlformats.org/drawingml/2006/main">
            <a:pPr>
              <a:defRPr sz="39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统一求解逐线位移</a:t>
            </a:r>
          </a:p>
        </p:txBody>
      </p:sp>
      <p:sp>
        <p:nvSpPr>
          <p:cNvPr id="5" name="q = L + d">
            <a:extLst xmlns:a="http://schemas.openxmlformats.org/drawingml/2006/main">
              <a:ext uri="{FF2B5EF4-FFF2-40B4-BE49-F238E27FC236}">
                <a16:creationId xmlns:a16="http://schemas.microsoft.com/office/drawing/2014/main" id="{B9273E04-0908-44D3-95B1-D0106DD4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q = L + d</a:t>
            </a:r>
          </a:p>
        </p:txBody>
      </p:sp>
      <p:sp>
        <p:nvSpPr>
          <p:cNvPr id="6" name="L：隐藏物理延时&#10;d：累计校准位移">
            <a:extLst xmlns:a="http://schemas.openxmlformats.org/drawingml/2006/main">
              <a:ext uri="{FF2B5EF4-FFF2-40B4-BE49-F238E27FC236}">
                <a16:creationId xmlns:a16="http://schemas.microsoft.com/office/drawing/2014/main" id="{0C01AE2A-52C3-4C55-8A53-FDE7488B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86125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L：隐藏物理延时</a:t>
            </a:r>
          </a:p>
          <a:p xmlns:a="http://schemas.openxmlformats.org/drawingml/2006/main">
            <a:pPr>
              <a:defRPr sz="202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d：累计校准位移</a:t>
            </a:r>
          </a:p>
        </p:txBody>
      </p:sp>
      <p:sp>
        <p:nvSpPr>
          <p:cNvPr id="7" name="外部执行方完成实验&#10;本系统申请测量、筛选结果并守">
            <a:extLst xmlns:a="http://schemas.openxmlformats.org/drawingml/2006/main">
              <a:ext uri="{FF2B5EF4-FFF2-40B4-BE49-F238E27FC236}">
                <a16:creationId xmlns:a16="http://schemas.microsoft.com/office/drawing/2014/main" id="{CCBE2A6E-1EAE-40DA-8968-EEDB8509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外部执行方完成实验</a:t>
            </a:r>
          </a:p>
          <a:p xmlns:a="http://schemas.openxmlformats.org/drawingml/2006/main">
            <a:pPr>
              <a:defRPr sz="210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本系统申请测量、筛选结果并守卫式回写</a:t>
            </a:r>
          </a:p>
        </p:txBody>
      </p:sp>
      <p:sp>
        <p:nvSpPr>
          <p:cNvPr id="8" name="当前 Phase-2    Python ≥ 3">
            <a:extLst xmlns:a="http://schemas.openxmlformats.org/drawingml/2006/main">
              <a:ext uri="{FF2B5EF4-FFF2-40B4-BE49-F238E27FC236}">
                <a16:creationId xmlns:a16="http://schemas.microsoft.com/office/drawing/2014/main" id="{3E7D4CAE-0C3A-49F4-A579-7417FC5F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当前 Phase-2    Python ≥ 3.10    运行时零第三方依赖</a:t>
            </a:r>
          </a:p>
        </p:txBody>
      </p:sp>
    </p:spTree>
    <p:extLst>
      <p:ext uri="{BB962C8B-B14F-4D97-AF65-F5344CB8AC3E}">
        <p14:creationId xmlns:p14="http://schemas.microsoft.com/office/powerpoint/2010/main" val="12268608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模块分工">
            <a:extLst xmlns:a="http://schemas.openxmlformats.org/drawingml/2006/main">
              <a:ext uri="{FF2B5EF4-FFF2-40B4-BE49-F238E27FC236}">
                <a16:creationId xmlns:a16="http://schemas.microsoft.com/office/drawing/2014/main" id="{284CA922-6089-4631-BE1F-D73F5032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模块分工</a:t>
            </a:r>
          </a:p>
        </p:txBody>
      </p:sp>
      <p:sp>
        <p:nvSpPr>
          <p:cNvPr id="2" name="两套编排器共用一套校准内核">
            <a:extLst xmlns:a="http://schemas.openxmlformats.org/drawingml/2006/main">
              <a:ext uri="{FF2B5EF4-FFF2-40B4-BE49-F238E27FC236}">
                <a16:creationId xmlns:a16="http://schemas.microsoft.com/office/drawing/2014/main" id="{98E63477-1F50-401E-A5CE-230C242B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两套编排器共用一套校准内核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FAB5B016-8733-4360-9A1F-8BCE46BD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4122D-08AD-47A7-A831-E1467AB020A9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714750"/>
                <a:gridCol w="510540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配置与静态工具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chip_gen / wiring_gen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validate / visualize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 JSON 配置、交叉校验与可视化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流程编排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pipeline / stages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安排测量边、阶段依赖和写回时机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共用校准内核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review 包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契约、策略、测量台账、选边、求解与守卫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执行方边界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ExecutorAdapter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DirectExecutor / FileQueue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提交实验、返回结果、同步设备状态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共用入口：最大分量求解、替补重连、数值验收后提交">
            <a:extLst xmlns:a="http://schemas.openxmlformats.org/drawingml/2006/main">
              <a:ext uri="{FF2B5EF4-FFF2-40B4-BE49-F238E27FC236}">
                <a16:creationId xmlns:a16="http://schemas.microsoft.com/office/drawing/2014/main" id="{7B9A4D32-75CC-4399-86D2-C18254BF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共用入口：最大分量求解、替补重连、数值验收后提交</a:t>
            </a:r>
          </a:p>
        </p:txBody>
      </p:sp>
    </p:spTree>
    <p:extLst>
      <p:ext uri="{BB962C8B-B14F-4D97-AF65-F5344CB8AC3E}">
        <p14:creationId xmlns:p14="http://schemas.microsoft.com/office/powerpoint/2010/main" val="906705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四组六步校准">
            <a:extLst xmlns:a="http://schemas.openxmlformats.org/drawingml/2006/main">
              <a:ext uri="{FF2B5EF4-FFF2-40B4-BE49-F238E27FC236}">
                <a16:creationId xmlns:a16="http://schemas.microsoft.com/office/drawing/2014/main" id="{CB899B27-3D43-48BA-B121-2F61CAAF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四组六步校准</a:t>
            </a:r>
          </a:p>
        </p:txBody>
      </p:sp>
      <p:sp>
        <p:nvSpPr>
          <p:cNvPr id="2" name="实验顺序由读取基准和共同测量基线决定">
            <a:extLst xmlns:a="http://schemas.openxmlformats.org/drawingml/2006/main">
              <a:ext uri="{FF2B5EF4-FFF2-40B4-BE49-F238E27FC236}">
                <a16:creationId xmlns:a16="http://schemas.microsoft.com/office/drawing/2014/main" id="{AE302D5F-5FA9-49C8-BFDA-BBA70E75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实验顺序由读取基准和共同测量基线决定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0A6EB824-26E0-4290-9DF1-0A959CE8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1654C-D30F-4322-9B58-3B09FF61E96A}"/>
              </a:ext>
            </a:extLst>
          </p:cNvPr>
          <p:cNvGraphicFramePr/>
          <p:nvPr/>
        </p:nvGraphicFramePr>
        <p:xfrm>
          <a:off xmlns:a="http://schemas.openxmlformats.org/drawingml/2006/main" x="685800" y="1838325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2095500"/>
                <a:gridCol w="6057900"/>
                <a:gridCol w="180975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 / 动作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文件写回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读取线组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对齐 ro 与 ri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即时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授予 headroom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读取线整体右移，记录授予余额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即时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单比特组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 XY 与 Z 的相对时序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仅记录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耦合器组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测量跨比特与耦合器的相对时序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仅记录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统一求解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合并步骤 3、4 的观测，整批求解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整批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读取线收尾组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连接读取与比特基准，按余额收回 headroom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即时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步骤 3、4 保持同一 config_hash，">
            <a:extLst xmlns:a="http://schemas.openxmlformats.org/drawingml/2006/main">
              <a:ext uri="{FF2B5EF4-FFF2-40B4-BE49-F238E27FC236}">
                <a16:creationId xmlns:a16="http://schemas.microsoft.com/office/drawing/2014/main" id="{83BD50FC-541B-415B-8D08-3C76AF39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步骤 3、4 保持同一 config_hash，写回后旧观测失效</a:t>
            </a:r>
          </a:p>
        </p:txBody>
      </p:sp>
    </p:spTree>
    <p:extLst>
      <p:ext uri="{BB962C8B-B14F-4D97-AF65-F5344CB8AC3E}">
        <p14:creationId xmlns:p14="http://schemas.microsoft.com/office/powerpoint/2010/main" val="1484571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数值验收与回写守卫">
            <a:extLst xmlns:a="http://schemas.openxmlformats.org/drawingml/2006/main">
              <a:ext uri="{FF2B5EF4-FFF2-40B4-BE49-F238E27FC236}">
                <a16:creationId xmlns:a16="http://schemas.microsoft.com/office/drawing/2014/main" id="{B50B71D2-3BB8-4EA9-B09A-2BCCB365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数值验收与回写守卫</a:t>
            </a:r>
          </a:p>
        </p:txBody>
      </p:sp>
      <p:sp>
        <p:nvSpPr>
          <p:cNvPr id="2" name="未收敛的解禁止推进文件、会话和设备">
            <a:extLst xmlns:a="http://schemas.openxmlformats.org/drawingml/2006/main">
              <a:ext uri="{FF2B5EF4-FFF2-40B4-BE49-F238E27FC236}">
                <a16:creationId xmlns:a16="http://schemas.microsoft.com/office/drawing/2014/main" id="{EC62B812-B7A3-43E0-8355-4BC3F173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未收敛的解禁止推进文件、会话和设备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F85EC8AF-A912-465F-9864-121E2E19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144C9-D034-4DC8-A897-12B31D48A465}"/>
              </a:ext>
            </a:extLst>
          </p:cNvPr>
          <p:cNvGraphicFramePr/>
          <p:nvPr/>
        </p:nvGraphicFramePr>
        <p:xfrm>
          <a:off xmlns:a="http://schemas.openxmlformats.org/drawingml/2006/main" x="685800" y="1981200"/>
          <a:ext xmlns:a="http://schemas.openxmlformats.org/drawingml/2006/main" cx="7048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542925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守卫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检查内容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CAS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pending 指纹与申请基线一致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单调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校准位移非负，收回量不超授予余额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每线累计延时不超过 d_max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原子写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同目录临时文件替换，保留备份和审计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输入先校验">
            <a:extLst xmlns:a="http://schemas.openxmlformats.org/drawingml/2006/main">
              <a:ext uri="{FF2B5EF4-FFF2-40B4-BE49-F238E27FC236}">
                <a16:creationId xmlns:a16="http://schemas.microsoft.com/office/drawing/2014/main" id="{C15C3F7E-D446-4C0A-BAD6-CC7BFBDE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输入先校验</a:t>
            </a:r>
          </a:p>
        </p:txBody>
      </p:sp>
      <p:sp>
        <p:nvSpPr>
          <p:cNvPr id="6" name="拒收 NaN、Inf&#10;拒收非法 σ 与评分">
            <a:extLst xmlns:a="http://schemas.openxmlformats.org/drawingml/2006/main">
              <a:ext uri="{FF2B5EF4-FFF2-40B4-BE49-F238E27FC236}">
                <a16:creationId xmlns:a16="http://schemas.microsoft.com/office/drawing/2014/main" id="{53E0751E-8CA7-488B-A0A5-4ADCA0B1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3286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拒收 NaN、Inf</a:t>
            </a:r>
          </a:p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拒收非法 σ 与评分</a:t>
            </a:r>
          </a:p>
        </p:txBody>
      </p:sp>
      <p:sp>
        <p:nvSpPr>
          <p:cNvPr id="7" name="会话完整验收后更新">
            <a:extLst xmlns:a="http://schemas.openxmlformats.org/drawingml/2006/main">
              <a:ext uri="{FF2B5EF4-FFF2-40B4-BE49-F238E27FC236}">
                <a16:creationId xmlns:a16="http://schemas.microsoft.com/office/drawing/2014/main" id="{028C362F-9BFF-42CC-97A3-1A9B6256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会话完整验收后更新</a:t>
            </a:r>
          </a:p>
        </p:txBody>
      </p:sp>
      <p:sp>
        <p:nvSpPr>
          <p:cNvPr id="8" name="守卫拒绝时 pending 保持原样，审计记录原">
            <a:extLst xmlns:a="http://schemas.openxmlformats.org/drawingml/2006/main">
              <a:ext uri="{FF2B5EF4-FFF2-40B4-BE49-F238E27FC236}">
                <a16:creationId xmlns:a16="http://schemas.microsoft.com/office/drawing/2014/main" id="{9ECFB15A-7B4F-4B74-A6FE-446A707B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守卫拒绝时 pending 保持原样，审计记录原因</a:t>
            </a:r>
          </a:p>
        </p:txBody>
      </p:sp>
    </p:spTree>
    <p:extLst>
      <p:ext uri="{BB962C8B-B14F-4D97-AF65-F5344CB8AC3E}">
        <p14:creationId xmlns:p14="http://schemas.microsoft.com/office/powerpoint/2010/main" val="7547993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并行示例：冲突波与提交束">
            <a:extLst xmlns:a="http://schemas.openxmlformats.org/drawingml/2006/main">
              <a:ext uri="{FF2B5EF4-FFF2-40B4-BE49-F238E27FC236}">
                <a16:creationId xmlns:a16="http://schemas.microsoft.com/office/drawing/2014/main" id="{026541E1-4149-49B3-9D98-AE22A548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并行示例：冲突波与提交束</a:t>
            </a:r>
          </a:p>
        </p:txBody>
      </p:sp>
      <p:sp>
        <p:nvSpPr>
          <p:cNvPr id="2" name="4 条链、16 个比特、55 条信号线，每束最多">
            <a:extLst xmlns:a="http://schemas.openxmlformats.org/drawingml/2006/main">
              <a:ext uri="{FF2B5EF4-FFF2-40B4-BE49-F238E27FC236}">
                <a16:creationId xmlns:a16="http://schemas.microsoft.com/office/drawing/2014/main" id="{1D6C33B7-FEE5-4ED9-AFF0-6E7D2B03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4 条链、16 个比特、55 条信号线，每束最多 4 条测量边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BD44DC21-9050-451B-86C4-D6FB7A9E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3DDB8-397A-41AB-8F17-44887A3AFEB1}"/>
              </a:ext>
            </a:extLst>
          </p:cNvPr>
          <p:cNvGraphicFramePr/>
          <p:nvPr/>
        </p:nvGraphicFramePr>
        <p:xfrm>
          <a:off xmlns:a="http://schemas.openxmlformats.org/drawingml/2006/main" x="685800" y="1990725"/>
          <a:ext xmlns:a="http://schemas.openxmlformats.org/drawingml/2006/main" cx="6477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333500"/>
                <a:gridCol w="1333500"/>
                <a:gridCol w="13335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实验组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测量边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冲突波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提交束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读取线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单比特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耦合器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读取线收尾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3.6×">
            <a:extLst xmlns:a="http://schemas.openxmlformats.org/drawingml/2006/main">
              <a:ext uri="{FF2B5EF4-FFF2-40B4-BE49-F238E27FC236}">
                <a16:creationId xmlns:a16="http://schemas.microsoft.com/office/drawing/2014/main" id="{0912D4A9-6FDE-4DC5-8EDE-1820CC73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3.6×</a:t>
            </a:r>
          </a:p>
        </p:txBody>
      </p:sp>
      <p:sp>
        <p:nvSpPr>
          <p:cNvPr id="6" name="54 / 15 的理论比值">
            <a:extLst xmlns:a="http://schemas.openxmlformats.org/drawingml/2006/main">
              <a:ext uri="{FF2B5EF4-FFF2-40B4-BE49-F238E27FC236}">
                <a16:creationId xmlns:a16="http://schemas.microsoft.com/office/drawing/2014/main" id="{9E205E27-00A0-40A8-B790-1ED24471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337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54 / 15 的理论比值</a:t>
            </a:r>
          </a:p>
        </p:txBody>
      </p:sp>
      <p:sp>
        <p:nvSpPr>
          <p:cNvPr id="7" name="实验等时、束内完全并发&#10;且忽略调度开销时成立&#10;模">
            <a:extLst xmlns:a="http://schemas.openxmlformats.org/drawingml/2006/main">
              <a:ext uri="{FF2B5EF4-FFF2-40B4-BE49-F238E27FC236}">
                <a16:creationId xmlns:a16="http://schemas.microsoft.com/office/drawing/2014/main" id="{077DA474-162A-437C-846E-2DA986CA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029075"/>
            <a:ext cx="3619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实验等时、束内完全并发</a:t>
            </a:r>
          </a:p>
          <a:p xmlns:a="http://schemas.openxmlformats.org/drawingml/2006/main">
            <a:pPr>
              <a:defRPr sz="187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且忽略调度开销时成立</a:t>
            </a:r>
          </a:p>
          <a:p xmlns:a="http://schemas.openxmlformats.org/drawingml/2006/main">
            <a:pPr>
              <a:defRPr sz="187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模拟演示没有实测提速</a:t>
            </a:r>
          </a:p>
        </p:txBody>
      </p:sp>
      <p:sp>
        <p:nvSpPr>
          <p:cNvPr id="8" name="同波不共享线名。收齐一束后提交下一束，求解与写回">
            <a:extLst xmlns:a="http://schemas.openxmlformats.org/drawingml/2006/main">
              <a:ext uri="{FF2B5EF4-FFF2-40B4-BE49-F238E27FC236}">
                <a16:creationId xmlns:a16="http://schemas.microsoft.com/office/drawing/2014/main" id="{169F847A-AF94-48A7-B24D-1740FC96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同波不共享线名。收齐一束后提交下一束，求解与写回串行</a:t>
            </a:r>
          </a:p>
        </p:txBody>
      </p:sp>
    </p:spTree>
    <p:extLst>
      <p:ext uri="{BB962C8B-B14F-4D97-AF65-F5344CB8AC3E}">
        <p14:creationId xmlns:p14="http://schemas.microsoft.com/office/powerpoint/2010/main" val="14203627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当前能力与边界">
            <a:extLst xmlns:a="http://schemas.openxmlformats.org/drawingml/2006/main">
              <a:ext uri="{FF2B5EF4-FFF2-40B4-BE49-F238E27FC236}">
                <a16:creationId xmlns:a16="http://schemas.microsoft.com/office/drawing/2014/main" id="{F32E7330-6CA2-4B24-8605-A58BC0B2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当前能力与边界</a:t>
            </a:r>
          </a:p>
        </p:txBody>
      </p:sp>
      <p:sp>
        <p:nvSpPr>
          <p:cNvPr id="2" name="当前能力集中在模拟校准与可复现的流程验证">
            <a:extLst xmlns:a="http://schemas.openxmlformats.org/drawingml/2006/main">
              <a:ext uri="{FF2B5EF4-FFF2-40B4-BE49-F238E27FC236}">
                <a16:creationId xmlns:a16="http://schemas.microsoft.com/office/drawing/2014/main" id="{54F28BE9-E3F0-42C0-A3EB-0477F0D7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当前能力集中在模拟校准与可复现的流程验证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37E8F59A-E27A-4548-A034-D0D8E8F9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5412C-C20E-4E91-A083-7676991D3467}"/>
              </a:ext>
            </a:extLst>
          </p:cNvPr>
          <p:cNvGraphicFramePr/>
          <p:nvPr/>
        </p:nvGraphicFramePr>
        <p:xfrm>
          <a:off xmlns:a="http://schemas.openxmlformats.org/drawingml/2006/main" x="685800" y="19812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772150"/>
              </a:tblGrid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已实现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当前边界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生成、校验、模拟与四组六步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真实阈值仍为占位值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质量筛选、全局求解与守卫回写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 truth 时，aligned 仅表示流程判据通过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测量日志、按组驱动与提交束接口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文件、设备与阶段日志尚未实现原子提交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0.224 ns">
            <a:extLst xmlns:a="http://schemas.openxmlformats.org/drawingml/2006/main">
              <a:ext uri="{FF2B5EF4-FFF2-40B4-BE49-F238E27FC236}">
                <a16:creationId xmlns:a16="http://schemas.microsoft.com/office/drawing/2014/main" id="{98E5FE25-0F78-40AC-9389-A2A36C91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3857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0.224 ns</a:t>
            </a:r>
          </a:p>
        </p:txBody>
      </p:sp>
      <p:sp>
        <p:nvSpPr>
          <p:cNvPr id="6" name="并行示例的模拟对账残差&#10;低于当前 0.5 ns ">
            <a:extLst xmlns:a="http://schemas.openxmlformats.org/drawingml/2006/main">
              <a:ext uri="{FF2B5EF4-FFF2-40B4-BE49-F238E27FC236}">
                <a16:creationId xmlns:a16="http://schemas.microsoft.com/office/drawing/2014/main" id="{F12279DD-2F71-4644-9AF6-91F27A1C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72100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并行示例的模拟对账残差</a:t>
            </a:r>
          </a:p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低于当前 0.5 ns 容差</a:t>
            </a:r>
          </a:p>
        </p:txBody>
      </p:sp>
    </p:spTree>
    <p:extLst>
      <p:ext uri="{BB962C8B-B14F-4D97-AF65-F5344CB8AC3E}">
        <p14:creationId xmlns:p14="http://schemas.microsoft.com/office/powerpoint/2010/main" val="12303337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2026-10-08T07:04:40.1250000Z</dcterms:created>
  <dcterms:modified xsi:type="dcterms:W3CDTF">2026-10-08T07:04:40.1250000Z</dcterms:modified>
</coreProperties>
</file>